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6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6256" y="1144437"/>
            <a:ext cx="11596444" cy="2438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"</a:t>
            </a:r>
            <a:r>
              <a:rPr dirty="0" err="1"/>
              <a:t>智能涌现与复杂网络</a:t>
            </a:r>
            <a:r>
              <a:rPr lang="zh-CN" altLang="en-US" dirty="0"/>
              <a:t>（</a:t>
            </a:r>
            <a:r>
              <a:rPr lang="en-US" altLang="zh-CN" dirty="0"/>
              <a:t>NICE</a:t>
            </a:r>
            <a:r>
              <a:rPr lang="zh-CN" altLang="en-US" dirty="0"/>
              <a:t>）</a:t>
            </a:r>
            <a:r>
              <a:rPr dirty="0"/>
              <a:t>"</a:t>
            </a:r>
            <a:r>
              <a:rPr dirty="0" err="1"/>
              <a:t>学科</a:t>
            </a:r>
            <a:endParaRPr lang="en-US" dirty="0"/>
          </a:p>
          <a:p>
            <a:pPr algn="ctr">
              <a:lnSpc>
                <a:spcPct val="150000"/>
              </a:lnSpc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十年发展规划（2026-2035）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0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基于网络时空协同复杂度理论的第一性原理探索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442422" y="5943600"/>
            <a:ext cx="3304110" cy="4962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rPr lang="en-US" altLang="zh-CN" dirty="0" err="1"/>
              <a:t>iNEST</a:t>
            </a:r>
            <a:r>
              <a:rPr lang="zh-CN" altLang="en-US" dirty="0"/>
              <a:t>研究组</a:t>
            </a:r>
            <a:r>
              <a:rPr dirty="0"/>
              <a:t> | 2025年11月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学科方向提出的时代背景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226" y="1737360"/>
            <a:ext cx="3474720" cy="6039602"/>
          </a:xfrm>
          <a:prstGeom prst="rect">
            <a:avLst/>
          </a:prstGeom>
          <a:solidFill>
            <a:srgbClr val="FFF5F5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rPr dirty="0"/>
              <a:t>⚠️ </a:t>
            </a:r>
            <a:r>
              <a:rPr dirty="0" err="1"/>
              <a:t>当前困局：LLM规模扩张走入死胡同</a:t>
            </a:r>
            <a:br>
              <a:rPr dirty="0"/>
            </a:br>
            <a:br>
              <a:rPr dirty="0"/>
            </a:br>
            <a:r>
              <a:rPr dirty="0"/>
              <a:t>• GPT-4: 1.76万亿参数</a:t>
            </a:r>
            <a:br>
              <a:rPr dirty="0"/>
            </a:br>
            <a:r>
              <a:rPr dirty="0"/>
              <a:t>  </a:t>
            </a:r>
            <a:r>
              <a:rPr dirty="0" err="1"/>
              <a:t>训练成本</a:t>
            </a:r>
            <a:r>
              <a:rPr dirty="0"/>
              <a:t>&gt;1亿美元</a:t>
            </a:r>
            <a:br>
              <a:rPr dirty="0"/>
            </a:br>
            <a:br>
              <a:rPr dirty="0"/>
            </a:br>
            <a:r>
              <a:rPr dirty="0"/>
              <a:t>• 边际收益递减：参数增加10倍</a:t>
            </a:r>
            <a:br>
              <a:rPr dirty="0"/>
            </a:br>
            <a:r>
              <a:rPr dirty="0"/>
              <a:t>  </a:t>
            </a:r>
            <a:r>
              <a:rPr dirty="0" err="1"/>
              <a:t>性能提升</a:t>
            </a:r>
            <a:r>
              <a:rPr dirty="0"/>
              <a:t>&lt;30%</a:t>
            </a:r>
            <a:br>
              <a:rPr dirty="0"/>
            </a:br>
            <a:br>
              <a:rPr dirty="0"/>
            </a:br>
            <a:r>
              <a:rPr dirty="0"/>
              <a:t>• 能耗爆炸：H100单卡700W</a:t>
            </a:r>
            <a:br>
              <a:rPr dirty="0"/>
            </a:br>
            <a:r>
              <a:rPr dirty="0"/>
              <a:t>  </a:t>
            </a:r>
            <a:r>
              <a:rPr dirty="0" err="1"/>
              <a:t>数据中心年耗电</a:t>
            </a:r>
            <a:r>
              <a:rPr dirty="0"/>
              <a:t>&gt;</a:t>
            </a:r>
            <a:r>
              <a:rPr dirty="0" err="1"/>
              <a:t>城市用电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389120" y="1828800"/>
            <a:ext cx="3474720" cy="5116272"/>
          </a:xfrm>
          <a:prstGeom prst="rect">
            <a:avLst/>
          </a:prstGeom>
          <a:solidFill>
            <a:srgbClr val="FFFAF0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rPr dirty="0"/>
              <a:t>❌ </a:t>
            </a:r>
            <a:r>
              <a:rPr dirty="0" err="1"/>
              <a:t>根本原因：违背智能涌现第一性原理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还原论思维</a:t>
            </a:r>
            <a:r>
              <a:rPr dirty="0"/>
              <a:t>：</a:t>
            </a:r>
            <a:br>
              <a:rPr dirty="0"/>
            </a:br>
            <a:r>
              <a:rPr dirty="0"/>
              <a:t>  </a:t>
            </a:r>
            <a:r>
              <a:rPr dirty="0" err="1"/>
              <a:t>线性堆砌节点复杂度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忽视系统论</a:t>
            </a:r>
            <a:r>
              <a:rPr dirty="0"/>
              <a:t>：</a:t>
            </a:r>
            <a:br>
              <a:rPr dirty="0"/>
            </a:br>
            <a:r>
              <a:rPr dirty="0"/>
              <a:t>  </a:t>
            </a:r>
            <a:r>
              <a:rPr dirty="0" err="1"/>
              <a:t>超非线性涌现机制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缺乏理论指导</a:t>
            </a:r>
            <a:r>
              <a:rPr dirty="0"/>
              <a:t>：</a:t>
            </a:r>
            <a:br>
              <a:rPr dirty="0"/>
            </a:br>
            <a:r>
              <a:rPr dirty="0"/>
              <a:t>  "</a:t>
            </a:r>
            <a:r>
              <a:rPr dirty="0" err="1"/>
              <a:t>炼金术"式试错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321040" y="1828800"/>
            <a:ext cx="3474720" cy="5116272"/>
          </a:xfrm>
          <a:prstGeom prst="rect">
            <a:avLst/>
          </a:prstGeom>
          <a:solidFill>
            <a:srgbClr val="F0FFF0"/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rPr dirty="0"/>
              <a:t>🎯 </a:t>
            </a:r>
            <a:r>
              <a:rPr dirty="0" err="1"/>
              <a:t>战略机遇：中国理论创新窗口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全球尚未建立智能涌现</a:t>
            </a:r>
            <a:br>
              <a:rPr dirty="0"/>
            </a:br>
            <a:r>
              <a:rPr dirty="0"/>
              <a:t>  </a:t>
            </a:r>
            <a:r>
              <a:rPr dirty="0" err="1"/>
              <a:t>统一理论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我们有机会率先突破</a:t>
            </a:r>
            <a:br>
              <a:rPr dirty="0"/>
            </a:br>
            <a:r>
              <a:rPr dirty="0"/>
              <a:t>  </a:t>
            </a:r>
            <a:r>
              <a:rPr dirty="0" err="1"/>
              <a:t>理论制高点</a:t>
            </a:r>
            <a:br>
              <a:rPr dirty="0"/>
            </a:br>
            <a:br>
              <a:rPr dirty="0"/>
            </a:br>
            <a:r>
              <a:rPr dirty="0"/>
              <a:t>• </a:t>
            </a:r>
            <a:r>
              <a:rPr dirty="0" err="1"/>
              <a:t>弯道超车的黄金时期</a:t>
            </a:r>
            <a:br>
              <a:rPr dirty="0"/>
            </a:br>
            <a:r>
              <a:rPr dirty="0"/>
              <a:t>  </a:t>
            </a:r>
            <a:r>
              <a:rPr dirty="0" err="1"/>
              <a:t>时不我待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808080"/>
                </a:solidFill>
                <a:latin typeface="Microsoft YaHei"/>
              </a:defRPr>
            </a:pPr>
            <a:r>
              <a:t>数据来源：OpenAI Technical Report 2023, Nature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2/30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第一性原理：冯诺依曼复杂度阈值猜想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371600"/>
          </a:xfrm>
          <a:prstGeom prst="rect">
            <a:avLst/>
          </a:prstGeom>
          <a:solidFill>
            <a:srgbClr val="F5F9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💭 "当一个系统的复杂度超过某个阈值，它将展现出质变的</a:t>
            </a:r>
            <a:br/>
            <a:r>
              <a:t>自组织、自复制、自适应能力"</a:t>
            </a:r>
            <a:br/>
            <a:r>
              <a:t>                           —von Neumann, The Computer and the Brain (1958)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3474720" cy="27432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🔬 化学键的多样性</a:t>
            </a:r>
            <a:br/>
            <a:br/>
            <a:r>
              <a:t>氢键、共价键、离子键、金属键</a:t>
            </a:r>
            <a:br/>
            <a:r>
              <a:t>↓</a:t>
            </a:r>
            <a:br/>
            <a:r>
              <a:t>10⁸+种化合物的涌现</a:t>
            </a:r>
            <a:br/>
            <a:br/>
            <a:r>
              <a:t>引用：Pauling, The Nature of </a:t>
            </a:r>
            <a:br/>
            <a:r>
              <a:t>the Chemical Bond (1939)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3474720"/>
            <a:ext cx="3474720" cy="27432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🧬 生命的涌现</a:t>
            </a:r>
            <a:br/>
            <a:br/>
            <a:r>
              <a:t>DNA双螺旋结构</a:t>
            </a:r>
            <a:br/>
            <a:r>
              <a:t>↓</a:t>
            </a:r>
            <a:br/>
            <a:r>
              <a:t>碱基配对 → 遗传信息编码</a:t>
            </a:r>
            <a:br/>
            <a:br/>
            <a:r>
              <a:t>引用：Watson &amp; Crick, </a:t>
            </a:r>
            <a:br/>
            <a:r>
              <a:t>Nature (1953)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3474720"/>
            <a:ext cx="3474720" cy="2743200"/>
          </a:xfrm>
          <a:prstGeom prst="rect">
            <a:avLst/>
          </a:prstGeom>
          <a:solidFill>
            <a:srgbClr val="FFF0F5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🧠 神经网络结构差异</a:t>
            </a:r>
            <a:br/>
            <a:br/>
            <a:r>
              <a:t>线虫：302个神经元 → 简单反射</a:t>
            </a:r>
            <a:br/>
            <a:r>
              <a:t>人类：860亿神经元 → 抽象推理</a:t>
            </a:r>
            <a:br/>
            <a:br/>
            <a:r>
              <a:t>引用：Sporns et al., </a:t>
            </a:r>
            <a:br/>
            <a:r>
              <a:t>PLoS Biology (2005)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3/30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核心发现：连接才是世界的本质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FF9500"/>
                </a:solidFill>
                <a:latin typeface="Microsoft YaHei"/>
              </a:defRPr>
            </a:pPr>
            <a:r>
              <a:t>💡 在复杂系统中，连接比节点更重要！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3474720" cy="32004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🧠 人脑连接组学</a:t>
            </a:r>
            <a:br/>
            <a:br/>
            <a:r>
              <a:t>860亿神经元 vs 10¹⁵个突触</a:t>
            </a:r>
            <a:br/>
            <a:r>
              <a:t>连接数量是节点的1.2万倍</a:t>
            </a:r>
            <a:br/>
            <a:br/>
            <a:r>
              <a:t>智能差异主要来自连接模式</a:t>
            </a:r>
            <a:br/>
            <a:r>
              <a:t>而非神经元数量</a:t>
            </a:r>
            <a:br/>
            <a:br/>
            <a:r>
              <a:t>引用：Sporns, Discovering the</a:t>
            </a:r>
            <a:br/>
            <a:r>
              <a:t>Human Connectome (2012)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926080"/>
            <a:ext cx="3474720" cy="32004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🌐 小世界网络理论</a:t>
            </a:r>
            <a:br/>
            <a:br/>
            <a:r>
              <a:t>高聚类系数C=0.68</a:t>
            </a:r>
            <a:br/>
            <a:r>
              <a:t>短平均路径L=2.8</a:t>
            </a:r>
            <a:br/>
            <a:r>
              <a:t>→ 信息高效传播</a:t>
            </a:r>
            <a:br/>
            <a:br/>
            <a:r>
              <a:t>远优于规则网络和随机网络</a:t>
            </a:r>
            <a:br/>
            <a:br/>
            <a:r>
              <a:t>引用：Watts &amp; Strogatz, </a:t>
            </a:r>
            <a:br/>
            <a:r>
              <a:t>Nature (1998)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926080"/>
            <a:ext cx="3474720" cy="3200400"/>
          </a:xfrm>
          <a:prstGeom prst="rect">
            <a:avLst/>
          </a:prstGeom>
          <a:solidFill>
            <a:srgbClr val="FFF0F5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📊 无标度网络特性</a:t>
            </a:r>
            <a:br/>
            <a:br/>
            <a:r>
              <a:t>幂律度分布 P(k) ∝ k^(-γ)</a:t>
            </a:r>
            <a:br/>
            <a:r>
              <a:t>γ≈2.1 的标度指数</a:t>
            </a:r>
            <a:br/>
            <a:br/>
            <a:r>
              <a:t>Hub节点实现跨模块整合</a:t>
            </a:r>
            <a:br/>
            <a:r>
              <a:t>形成"富人俱乐部"连接</a:t>
            </a:r>
            <a:br/>
            <a:br/>
            <a:r>
              <a:t>引用：Barabási &amp; Albert, </a:t>
            </a:r>
            <a:br/>
            <a:r>
              <a:t>Science (1999)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4/30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人脑 vs GPU算力系统：截然不同的两个物种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11274552" cy="44375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人脑（生物智能）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GPU算力系统（人工智能）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差异倍数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架构哲学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复杂网络×简单节点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简单网络×复杂节点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范式对立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连接密度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10¹⁵突触/860亿神经元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10⁹连接/10⁹晶体管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10⁶倍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网络复杂度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小世界+无标度(C=0.68)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规则网格(C≈0)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节点复杂度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LIF简单模型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32位浮点运算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1/1000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能效比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20W/10¹⁶OPS = 0.002pJ/OP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700W/10¹⁵FLOPS = 700pJ/OP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350,000倍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学习机制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脉冲时序依赖可塑性(STDP)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反向传播(BP)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物理vs数字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时间编码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脉冲发放时间(ms级)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时钟同步(ns级)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异步vs同步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能量分配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80%用于连接（突触）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80%用于节点（ALU）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倒置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6217920"/>
            <a:ext cx="8531352" cy="731520"/>
          </a:xfrm>
          <a:prstGeom prst="rect">
            <a:avLst/>
          </a:prstGeom>
          <a:solidFill>
            <a:srgbClr val="FFF0C8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9500"/>
                </a:solidFill>
                <a:latin typeface="Microsoft YaHei"/>
              </a:defRPr>
            </a:pPr>
            <a:r>
              <a:t>⚡ 关键发现：350,000倍能效差异！人脑是GPU的极致优化版本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808080"/>
                </a:solidFill>
                <a:latin typeface="Microsoft YaHei"/>
              </a:defRPr>
            </a:pPr>
            <a:r>
              <a:t>引用：Laughlin &amp; Sejnowski, Science 2003; Indiveri &amp; Liu, Proc. IEEE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5/30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当前AI困局的根本原因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solidFill>
            <a:srgbClr val="FFF5F5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❌ 当前AI路线（还原论）</a:t>
            </a:r>
            <a:br/>
            <a:br/>
            <a:r>
              <a:t>简单网络 × 复杂节点</a:t>
            </a:r>
            <a:br/>
            <a:r>
              <a:t>• 全连接/卷积网络</a:t>
            </a:r>
            <a:br/>
            <a:r>
              <a:t>• GPU/TPU超级节点</a:t>
            </a:r>
            <a:br/>
            <a:br/>
            <a:r>
              <a:t>80%创新资源投入超级节点</a:t>
            </a:r>
            <a:br/>
            <a:r>
              <a:t>• 算力竞赛：3nm→2nm→1nm</a:t>
            </a:r>
            <a:br/>
            <a:r>
              <a:t>• 参数堆砌：GPT-3→GPT-4</a:t>
            </a:r>
            <a:br/>
            <a:br/>
            <a:r>
              <a:t>结果：线性堆砌，不涌现</a:t>
            </a:r>
            <a:br/>
            <a:r>
              <a:t>⬇️ 遭遇发展瓶颈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320040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9500"/>
                </a:solidFill>
                <a:latin typeface="Microsoft YaHei"/>
              </a:defRPr>
            </a:pPr>
            <a:r>
              <a:t>→</a:t>
            </a:r>
            <a:br/>
            <a:r>
              <a:t>我们的</a:t>
            </a:r>
            <a:br/>
            <a:r>
              <a:t>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828800"/>
            <a:ext cx="4937760" cy="36576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✅ 人脑路线（系统论）</a:t>
            </a:r>
            <a:br/>
            <a:br/>
            <a:r>
              <a:t>复杂网络 × 简单节点</a:t>
            </a:r>
            <a:br/>
            <a:r>
              <a:t>• 小世界无标度网络</a:t>
            </a:r>
            <a:br/>
            <a:r>
              <a:t>• LIF神经元模型</a:t>
            </a:r>
            <a:br/>
            <a:br/>
            <a:r>
              <a:t>80%进化能量优化连接</a:t>
            </a:r>
            <a:br/>
            <a:r>
              <a:t>• 网络拓扑结构演化</a:t>
            </a:r>
            <a:br/>
            <a:r>
              <a:t>• 突触权重精细调节</a:t>
            </a:r>
            <a:br/>
            <a:br/>
            <a:r>
              <a:t>结果：超非线性涌现</a:t>
            </a:r>
            <a:br/>
            <a:r>
              <a:t>⬆️ 智能质的飞跃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solidFill>
            <a:srgbClr val="F5F9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0066CC"/>
                </a:solidFill>
                <a:latin typeface="Microsoft YaHei"/>
              </a:defRPr>
            </a:pPr>
            <a:r>
              <a:t>💡 破局关键：不是做更复杂的GPU，而是做更复杂的网络！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6/30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我们的核心学术信仰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1828800"/>
          </a:xfrm>
          <a:prstGeom prst="rect">
            <a:avLst/>
          </a:prstGeom>
          <a:solidFill>
            <a:srgbClr val="F5FA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0066CC"/>
                </a:solidFill>
                <a:latin typeface="Microsoft YaHei"/>
              </a:defRPr>
            </a:pPr>
            <a:r>
              <a:t>💫 智能是在复杂相互作用关系迭代演化中涌现出来的</a:t>
            </a:r>
            <a:br/>
            <a:r>
              <a:t>不是靠数字和逻辑计算的规模堆砌出来的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5486400" cy="22860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📚 理论基础</a:t>
            </a:r>
            <a:br/>
            <a:br/>
            <a:r>
              <a:t>1. 涌现（Emergence）</a:t>
            </a:r>
            <a:br/>
            <a:r>
              <a:t>   整体大于部分之和</a:t>
            </a:r>
            <a:br/>
            <a:r>
              <a:t>   —Anderson, Science 1972</a:t>
            </a:r>
            <a:br/>
            <a:br/>
            <a:r>
              <a:t>2. 自组织临界性</a:t>
            </a:r>
            <a:br/>
            <a:r>
              <a:t>   复杂系统的普遍特征</a:t>
            </a:r>
            <a:br/>
            <a:r>
              <a:t>   —Bak et al., Phys. Rev. Lett. 1987</a:t>
            </a:r>
            <a:br/>
            <a:br/>
            <a:r>
              <a:t>3. 神经雪崩</a:t>
            </a:r>
            <a:br/>
            <a:r>
              <a:t>   临界态的实验证据</a:t>
            </a:r>
            <a:br/>
            <a:r>
              <a:t>   —Beggs &amp; Plenz, J. Neurosci. 2003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840480"/>
            <a:ext cx="5330952" cy="2286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🔧 工程哲学</a:t>
            </a:r>
            <a:br/>
            <a:br/>
            <a:r>
              <a:t>• 以复杂度为抓手</a:t>
            </a:r>
            <a:br/>
            <a:r>
              <a:t>  量化智能涌现机制</a:t>
            </a:r>
            <a:br/>
            <a:br/>
            <a:r>
              <a:t>• 探索从复杂度到智能涌现的</a:t>
            </a:r>
            <a:br/>
            <a:r>
              <a:t>  机理、机制、方法和工程技术</a:t>
            </a:r>
            <a:br/>
            <a:br/>
            <a:r>
              <a:t>• 实现"绿色、普惠、安全"AI</a:t>
            </a:r>
            <a:br/>
            <a:r>
              <a:t>  - 绿色：能效比提升50倍</a:t>
            </a:r>
            <a:br/>
            <a:r>
              <a:t>  - 普惠：成本降低100倍  </a:t>
            </a:r>
            <a:br/>
            <a:r>
              <a:t>  - 安全：可解释可控制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7/30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网络时空协同复杂度涌现智能理论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9500"/>
                </a:solidFill>
                <a:latin typeface="Microsoft YaHei"/>
              </a:defRPr>
            </a:pPr>
            <a:r>
              <a:t>🏆 首次在理论上进行定量建模和理论统一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3474720" cy="256032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📐 空间复杂度 S_c</a:t>
            </a:r>
            <a:br/>
            <a:br/>
            <a:r>
              <a:t>• 连通性C：网络连接密度</a:t>
            </a:r>
            <a:br/>
            <a:r>
              <a:t>• 层级性H：k-core分解深度  </a:t>
            </a:r>
            <a:br/>
            <a:r>
              <a:t>• 模块性M：社群结构强度</a:t>
            </a:r>
            <a:br/>
            <a:r>
              <a:t>• 小世界比R_sw：C/C_rand × L_rand/L</a:t>
            </a:r>
            <a:br/>
            <a:br/>
            <a:r>
              <a:t>量化网络拓扑结构复杂性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560320"/>
            <a:ext cx="3474720" cy="2560320"/>
          </a:xfrm>
          <a:prstGeom prst="rect">
            <a:avLst/>
          </a:prstGeom>
          <a:solidFill>
            <a:srgbClr val="FFF8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⏰ 时间复杂度 T_c</a:t>
            </a:r>
            <a:br/>
            <a:br/>
            <a:r>
              <a:t>• 临界性λ_eff：接近临界态程度</a:t>
            </a:r>
            <a:br/>
            <a:r>
              <a:t>• 相位一致性Φ：Kuramoto序参量</a:t>
            </a:r>
            <a:br/>
            <a:r>
              <a:t>• 可塑性Ψ：突触权重变化率</a:t>
            </a:r>
            <a:br/>
            <a:r>
              <a:t>• 时间尺度Θ：多尺度协同能力</a:t>
            </a:r>
            <a:br/>
            <a:br/>
            <a:r>
              <a:t>量化网络动力学复杂性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560320"/>
            <a:ext cx="3474720" cy="256032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🔗 时空协同 Γ_st</a:t>
            </a:r>
            <a:br/>
            <a:br/>
            <a:r>
              <a:t>结构社群与功能社群的</a:t>
            </a:r>
            <a:br/>
            <a:r>
              <a:t>归一化互信息</a:t>
            </a:r>
            <a:br/>
            <a:br/>
            <a:r>
              <a:t>度量空间结构如何</a:t>
            </a:r>
            <a:br/>
            <a:r>
              <a:t>支撑时间动力学</a:t>
            </a:r>
            <a:br/>
            <a:br/>
            <a:r>
              <a:t>实现结构-功能耦合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solidFill>
            <a:srgbClr val="F5FA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0066CC"/>
                </a:solidFill>
                <a:latin typeface="Microsoft YaHei"/>
              </a:defRPr>
            </a:pPr>
            <a:r>
              <a:t>🧮 核心公式：</a:t>
            </a:r>
            <a:br/>
            <a:r>
              <a:t>C_ST = (S_c · T_c) · e^(α·Γ_st)        RI = C_ST / E_env^rel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8/30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六级智能阈值体系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11274552" cy="3523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06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等级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RI阈值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数学常数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智能类型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核心能力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生物对标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技术验证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Ⅰ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≥0.707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1/√2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感知智能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环境感知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细菌趋化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光电传感器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反应智能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刺激-反应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线虫C.elegans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简单神经网络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Ⅲ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≥1.618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φ(黄金分割)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适应智能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工具使用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章鱼/蜜蜂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强化学习智能体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≥2.718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e(自然对数底)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创造智能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创新求解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乌鸦/鹦鹉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AlphaGo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Ⅴ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≥3.1416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π(圆周率)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通用智能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抽象推理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人类(5岁)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AGI原型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→4.669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δ(Feigenbaum)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超级智能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自组织演化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集体智慧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理论预言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solidFill>
            <a:srgbClr val="F5F9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🔢 数学常数的物理意义：1/√2-信噪比临界点  1-热力学平衡  φ-自然界最优比例  </a:t>
            </a:r>
            <a:br/>
            <a:r>
              <a:t>e-增长衰减自然底数  π-几何完备性  δ-混沌边缘倍周期分岔通向混沌的普适常数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9/30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230个系统实证验证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📊 系统分类统计</a:t>
            </a:r>
            <a:br/>
            <a:br/>
            <a:r>
              <a:t>🧬 生物系统：150个（65%）</a:t>
            </a:r>
            <a:br/>
            <a:r>
              <a:t>• 细菌：大肠杆菌、枯草芽孢杆菌等</a:t>
            </a:r>
            <a:br/>
            <a:r>
              <a:t>• 线虫：C.elegans完整神经网络</a:t>
            </a:r>
            <a:br/>
            <a:r>
              <a:t>• 昆虫：蜜蜂、蚂蚁群体智能</a:t>
            </a:r>
            <a:br/>
            <a:r>
              <a:t>• 头足类：章鱼工具使用行为</a:t>
            </a:r>
            <a:br/>
            <a:r>
              <a:t>• 鸟类：乌鸦创新问题求解</a:t>
            </a:r>
            <a:br/>
            <a:r>
              <a:t>• 灵长类：黑猩猩、恒河猴</a:t>
            </a:r>
            <a:br/>
            <a:r>
              <a:t>• 人类：儿童发展阶段</a:t>
            </a:r>
            <a:br/>
            <a:br/>
            <a:r>
              <a:t>🤖 AI系统：80个（35%）</a:t>
            </a:r>
            <a:br/>
            <a:r>
              <a:t>• 深度学习：CNN、RNN、Transformer</a:t>
            </a:r>
            <a:br/>
            <a:r>
              <a:t>• 强化学习：DQN、A3C、PPO</a:t>
            </a:r>
            <a:br/>
            <a:r>
              <a:t>• 类脑芯片：TrueNorth、Loihi、天机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330952" cy="36576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🎯 验证结果</a:t>
            </a:r>
            <a:br/>
            <a:br/>
            <a:r>
              <a:t>✅ 智能等级分类准确率</a:t>
            </a:r>
            <a:br/>
            <a:r>
              <a:t>92.1% (p&lt;0.001)</a:t>
            </a:r>
            <a:br/>
            <a:r>
              <a:t>显著优于随机分类(16.7%)</a:t>
            </a:r>
            <a:br/>
            <a:br/>
            <a:r>
              <a:t>✅ 学习速度预测误差</a:t>
            </a:r>
            <a:br/>
            <a:r>
              <a:t>平均误差&lt;15%</a:t>
            </a:r>
            <a:br/>
            <a:r>
              <a:t>R²相关系数&gt;0.85</a:t>
            </a:r>
            <a:br/>
            <a:br/>
            <a:r>
              <a:t>✅ 六个阈值验证</a:t>
            </a:r>
            <a:br/>
            <a:r>
              <a:t>全部通过统计检验</a:t>
            </a:r>
            <a:br/>
            <a:r>
              <a:t>置信度&gt;99.9%</a:t>
            </a:r>
            <a:br/>
            <a:br/>
            <a:r>
              <a:t>✅ 跨物种一致性</a:t>
            </a:r>
            <a:br/>
            <a:r>
              <a:t>生物-人工系统遵循</a:t>
            </a:r>
            <a:br/>
            <a:r>
              <a:t>统一的智能涌现规律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1600" b="0">
                <a:solidFill>
                  <a:srgbClr val="808080"/>
                </a:solidFill>
                <a:latin typeface="Microsoft YaHei"/>
              </a:defRPr>
            </a:pPr>
            <a:r>
              <a:t>引用：Sporns &amp; Betzel, Nat. Rev. Neurosci. 2016; Silver et al., Nature 2016; OpenAI et al., arXiv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10/30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六代演进路线图（2027-2035）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828800"/>
          <a:ext cx="11338560" cy="3845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时间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代次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智能等级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RI阈值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突触规模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晶圆尺寸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能效比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关键里程碑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Gen1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Ⅰ感知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≥0.707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10⁶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4英寸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&lt;5 pJ/SOP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原型验证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2028-29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Gen2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Ⅱ反应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6英寸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&lt;2 pJ/SOP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学习系统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2030-31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Gen3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Ⅲ适应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≥1.618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5×10⁸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8英寸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&lt;1 pJ/SOP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工具使用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2032-33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Gen4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Ⅳ创造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≥2.718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10¹⁰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12英寸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&lt;0.5 pJ/SOP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⭐商用化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2034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Gen5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Ⅴ通用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≥3.1416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10¹²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多片互联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&lt;0.2 pJ/SOP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⭐⭐AGI突破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2035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Gen6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Ⅵ超级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→4.669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&gt;10¹³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网络化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&lt;0.1 pJ/SOP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⭐⭐⭐理论验证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10360152" cy="914400"/>
          </a:xfrm>
          <a:prstGeom prst="rect">
            <a:avLst/>
          </a:prstGeom>
          <a:solidFill>
            <a:srgbClr val="F5F9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📈 关键指标演进：能效比提升50倍（5 pJ→0.1 pJ）  突触规模增长10⁷倍  </a:t>
            </a:r>
            <a:br/>
            <a:r>
              <a:t>时空协同系数Γ_st: 0.3→0.9  智能等级RI: 0.707→4.669（6.6倍提升）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14/30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窗口期的紧迫性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DC3545"/>
                </a:solidFill>
                <a:latin typeface="Microsoft YaHei"/>
              </a:defRPr>
            </a:pPr>
            <a:r>
              <a:t>⏰ 时不我待！错过窗口期将失去历史机遇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5029200" cy="201168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⚠️ 理论窗口期（1-2年）</a:t>
            </a:r>
            <a:br/>
            <a:br/>
            <a:r>
              <a:t>• 全球尚无智能涌现统一理论</a:t>
            </a:r>
            <a:br/>
            <a:r>
              <a:t>• 我们的iNEST理论已有230系统验证  </a:t>
            </a:r>
            <a:br/>
            <a:r>
              <a:t>• 必须在2026年前发表Nature/Science确立优先权</a:t>
            </a:r>
            <a:br/>
            <a:r>
              <a:t>• 理论制高点决定话语权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560320"/>
            <a:ext cx="5029200" cy="2011680"/>
          </a:xfrm>
          <a:prstGeom prst="rect">
            <a:avLst/>
          </a:prstGeom>
          <a:solidFill>
            <a:srgbClr val="FFF5E6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⚠️ 技术窗口期（3-5年）</a:t>
            </a:r>
            <a:br/>
            <a:br/>
            <a:r>
              <a:t>• 忆阻器技术成熟度达到TRL 7</a:t>
            </a:r>
            <a:br/>
            <a:r>
              <a:t>• 晶圆级集成已有商业案例（Cerebras）</a:t>
            </a:r>
            <a:br/>
            <a:r>
              <a:t>• 错过窗口将丧失先发优势</a:t>
            </a:r>
            <a:br/>
            <a:r>
              <a:t>• 技术代差将难以逆转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5029200" cy="2011680"/>
          </a:xfrm>
          <a:prstGeom prst="rect">
            <a:avLst/>
          </a:prstGeom>
          <a:solidFill>
            <a:srgbClr val="FFEBEB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⚠️ 竞争窗口期（2-3年）</a:t>
            </a:r>
            <a:br/>
            <a:br/>
            <a:r>
              <a:t>• 美国DARPA新一轮投资（50亿美元）</a:t>
            </a:r>
            <a:br/>
            <a:r>
              <a:t>• 欧盟Chips Act类脑专项（20亿欧元）</a:t>
            </a:r>
            <a:br/>
            <a:r>
              <a:t>• 中国必须在2027年前建立理论优势</a:t>
            </a:r>
            <a:br/>
            <a:r>
              <a:t>• 国际竞争日趋激烈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754880"/>
            <a:ext cx="5029200" cy="2011680"/>
          </a:xfrm>
          <a:prstGeom prst="rect">
            <a:avLst/>
          </a:prstGeom>
          <a:solidFill>
            <a:srgbClr val="FAF0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⚠️ 人才窗口期（5年）</a:t>
            </a:r>
            <a:br/>
            <a:br/>
            <a:r>
              <a:t>• 海外华人顶尖学者回流高峰期</a:t>
            </a:r>
            <a:br/>
            <a:r>
              <a:t>• 国内青年才俊尚未被竞争对手锁定</a:t>
            </a:r>
            <a:br/>
            <a:r>
              <a:t>• 现在投入可抢占制高点</a:t>
            </a:r>
            <a:br/>
            <a:r>
              <a:t>• 人才是第一生产力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28/30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4800" b="1">
                <a:solidFill>
                  <a:srgbClr val="0066CC"/>
                </a:solidFill>
                <a:latin typeface="Microsoft YaHei"/>
              </a:defRPr>
            </a:pPr>
            <a:r>
              <a:t>让我们一起改变世界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2286000"/>
          </a:xfrm>
          <a:prstGeom prst="rect">
            <a:avLst/>
          </a:prstGeom>
          <a:solidFill>
            <a:srgbClr val="F0FA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0066CC"/>
                </a:solidFill>
                <a:latin typeface="Microsoft YaHei"/>
              </a:defRPr>
            </a:pPr>
            <a:r>
              <a:t>🌟 iNEST理论愿景：从复杂连接中涌现智能</a:t>
            </a:r>
            <a:br/>
            <a:br/>
            <a:r>
              <a:t>🔬 底层：晶圆上的10¹³个忆阻器突触 → 物理基础</a:t>
            </a:r>
            <a:br/>
            <a:r>
              <a:t>                    ⬇️</a:t>
            </a:r>
            <a:br/>
            <a:r>
              <a:t>🧠 中层：涌现出的六级智能（感知→通用→超级）→ 智能演化  </a:t>
            </a:r>
            <a:br/>
            <a:r>
              <a:t>                    ⬇️</a:t>
            </a:r>
            <a:br/>
            <a:r>
              <a:t>🌍 顶层：赋能千行百业（智慧医疗/自动驾驶/科学发现）→ 社会变革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3474720" cy="109728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🏛️ 政策支持</a:t>
            </a:r>
            <a:br/>
            <a:r>
              <a:t>纳入国家"十五五"专项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4572000"/>
            <a:ext cx="3474720" cy="109728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🤝 合作共赢</a:t>
            </a:r>
            <a:br/>
            <a:r>
              <a:t>加入iNEST产业联盟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572000"/>
            <a:ext cx="3474720" cy="109728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🎓 人才汇聚</a:t>
            </a:r>
            <a:br/>
            <a:r>
              <a:t>投身智能涌现新赛道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0066CC"/>
                </a:solidFill>
                <a:latin typeface="Microsoft YaHei"/>
              </a:defRPr>
            </a:pPr>
            <a:r>
              <a:t>从复杂连接中涌现智能，让中国引领物理AI新时代</a:t>
            </a:r>
            <a:br/>
            <a:r>
              <a:t>"绿色AI·普惠AI·安全AI"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30/30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复杂网络×简单节点：首创工程技术路线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731520"/>
          </a:xfrm>
          <a:prstGeom prst="rect">
            <a:avLst/>
          </a:prstGeom>
          <a:solidFill>
            <a:srgbClr val="F5F9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💡 为什么是"复杂网络×简单节点"？人脑80%能量用于连接，神经元是简单LIF模型，智能涌现于连接模式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743200"/>
          <a:ext cx="11274552" cy="2899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传统AI路线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我们的路线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突破意义</a:t>
                      </a:r>
                    </a:p>
                  </a:txBody>
                  <a:tcP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架构重心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复杂节点（GPU/TPU）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复杂网络（晶圆级互连）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范式革命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节点单元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32位浮点ALU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简单LIF忆阻器电路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降低单元复杂度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网络拓扑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规则（全连接/卷积）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动态可塑（小世界无标度）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提升网络智能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工艺依赖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极高（3nm→2nm→1nm）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中等（28nm-14nm即可）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摆脱工艺依赖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能效比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0.1 TOPS/W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5000+ TOPS/W（预期）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50,000倍提升</a:t>
                      </a:r>
                    </a:p>
                  </a:txBody>
                  <a:tcPr>
                    <a:solidFill>
                      <a:srgbClr val="F5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扩展性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受限于单芯片面积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晶圆级/多晶圆互连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600">
                          <a:solidFill>
                            <a:srgbClr val="2C3E50"/>
                          </a:solidFill>
                          <a:latin typeface="Microsoft YaHei"/>
                        </a:defRPr>
                      </a:pPr>
                      <a:r>
                        <a:t>无限扩展能力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10360152" cy="73152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1">
                <a:solidFill>
                  <a:srgbClr val="0066CC"/>
                </a:solidFill>
                <a:latin typeface="Microsoft YaHei"/>
              </a:defRPr>
            </a:pPr>
            <a:r>
              <a:t>🎯 破局意义：摆脱对先进工艺的依赖，实现能效比质的飞跃，开辟中国自主可控新路径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12/30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solidFill>
            <a:srgbClr val="0066CC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经费预算与来源（2026-2035总计11.8亿元）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5029200" cy="3657600"/>
          </a:xfrm>
          <a:prstGeom prst="rect">
            <a:avLst/>
          </a:prstGeom>
          <a:solidFill>
            <a:srgbClr val="F0F8FF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💰 预算分配（11.8亿元）</a:t>
            </a:r>
            <a:br/>
            <a:br/>
            <a:r>
              <a:t>🔬 基础研究：2.5亿元（21%）</a:t>
            </a:r>
            <a:br/>
            <a:r>
              <a:t>• 国家级项目：70%（1.75亿）</a:t>
            </a:r>
            <a:br/>
            <a:r>
              <a:t>• 省部级项目：30%（0.75亿）</a:t>
            </a:r>
            <a:br/>
            <a:br/>
            <a:r>
              <a:t>🏗️ 平台建设：4.0亿元（34%）</a:t>
            </a:r>
            <a:br/>
            <a:r>
              <a:t>• 国家专项支持：60%（2.4亿）</a:t>
            </a:r>
            <a:br/>
            <a:r>
              <a:t>• 地方政府配套：40%（1.6亿）</a:t>
            </a:r>
            <a:br/>
            <a:br/>
            <a:r>
              <a:t>👥 人才引育：1.5亿元（13%）</a:t>
            </a:r>
            <a:br/>
            <a:r>
              <a:t>• 人才计划支持：50%（0.75亿）</a:t>
            </a:r>
            <a:br/>
            <a:r>
              <a:t>• 学校配套投入：50%（0.75亿）</a:t>
            </a:r>
            <a:br/>
            <a:br/>
            <a:r>
              <a:t>🌍 国际合作：0.8亿元（7%）</a:t>
            </a:r>
            <a:br/>
            <a:r>
              <a:t>• 国际合作专项全额支持</a:t>
            </a:r>
            <a:br/>
            <a:br/>
            <a:r>
              <a:t>🏭 成果转化：3.0亿元（25%）</a:t>
            </a:r>
            <a:br/>
            <a:r>
              <a:t>• 企业投资：60%（1.8亿）</a:t>
            </a:r>
            <a:br/>
            <a:r>
              <a:t>• 政府引导基金：40%（1.2亿）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828800"/>
            <a:ext cx="5330952" cy="36576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📅 分年度投入计划</a:t>
            </a:r>
            <a:br/>
            <a:br/>
            <a:r>
              <a:t>2026年：1.3亿元（启动年）</a:t>
            </a:r>
            <a:br/>
            <a:r>
              <a:t>2027年：1.3亿元（Gen1原型）</a:t>
            </a:r>
            <a:br/>
            <a:r>
              <a:t>2028年：1.2亿元（Gen2开发）</a:t>
            </a:r>
            <a:br/>
            <a:r>
              <a:t>2029年：1.2亿元（Gen2优化）</a:t>
            </a:r>
            <a:br/>
            <a:r>
              <a:t>2030年：1.1亿元（Gen3研发）</a:t>
            </a:r>
            <a:br/>
            <a:r>
              <a:t>2031年：1.1亿元（Gen3验证）</a:t>
            </a:r>
            <a:br/>
            <a:r>
              <a:t>2032年：1.0亿元（Gen4开发）</a:t>
            </a:r>
            <a:br/>
            <a:r>
              <a:t>2033年：1.0亿元（Gen4商用）</a:t>
            </a:r>
            <a:br/>
            <a:r>
              <a:t>2034年：0.8亿元（Gen5突破）</a:t>
            </a:r>
            <a:br/>
            <a:r>
              <a:t>2035年：0.8亿元（Gen6验证）</a:t>
            </a:r>
            <a:br/>
            <a:br/>
            <a:r>
              <a:t>💡 投入策略：</a:t>
            </a:r>
            <a:br/>
            <a:r>
              <a:t>• 前期重点投入平台建设</a:t>
            </a:r>
            <a:br/>
            <a:r>
              <a:t>• 中期侧重技术研发</a:t>
            </a:r>
            <a:br/>
            <a:r>
              <a:t>• 后期专注成果转化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solidFill>
            <a:srgbClr val="F5F9FF"/>
          </a:solidFill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2C3E50"/>
                </a:solidFill>
                <a:latin typeface="Microsoft YaHei"/>
              </a:defRPr>
            </a:pPr>
            <a:r>
              <a:t>💼 经费来源：国家专项40%，地方政府25%，企业投资20%，国际合作7%，学校配套8%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  <a:defRPr sz="1600" b="0">
                <a:solidFill>
                  <a:srgbClr val="0066CC"/>
                </a:solidFill>
                <a:latin typeface="Microsoft YaHei"/>
              </a:defRPr>
            </a:pPr>
            <a:r>
              <a:t>18/30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物理时空复杂网络的工程实现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物理AI、绿色AI的本质内涵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  <a:latin typeface="微软雅黑"/>
              </a:defRPr>
            </a:pPr>
            <a:r>
              <a:t>⚡ 物理AI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定义：利用物理过程本身计算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核心：忆阻器动力学 = 神经元动力学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优势：天然并行、模拟计算、原位学习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4937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引用：Indiveri 2011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486400" cy="5029200"/>
          </a:xfrm>
          <a:prstGeom prst="round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5448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66CC"/>
                </a:solidFill>
                <a:latin typeface="微软雅黑"/>
              </a:defRPr>
            </a:pPr>
            <a:r>
              <a:t>🌱 绿色AI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定义：最小能耗实现智能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对比：GPT-3 1287 MWh vs 人脑80年 14 MWh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比例：1/90 差距巨大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4903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目标：Gen1 &lt;5 pJ/SOP → Gen6 &lt;0.1 pJ/SOP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2976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引用：Strubell 2019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13/30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天津大学现有基础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🏆 学科优势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微电子学科A类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精密仪器A+学科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智能科学与技术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🔬 平台基础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微电子器件实验室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光电信息技术实验室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926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超大规模集成电路实验室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👥 人才储备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现有团队15人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教授5人+副教授7人+讲师3人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海外经历≥80%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5303520" cy="2286000"/>
          </a:xfrm>
          <a:prstGeom prst="roundRect">
            <a:avLst/>
          </a:prstGeom>
          <a:solidFill>
            <a:srgbClr val="F5F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2062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  <a:latin typeface="微软雅黑"/>
              </a:defRPr>
            </a:pPr>
            <a:r>
              <a:t>🌐 合作网络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国际合作：20所名校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120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国内合作：5个研究所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66928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2C3E50"/>
                </a:solidFill>
                <a:latin typeface="微软雅黑"/>
              </a:defRPr>
            </a:pPr>
            <a:r>
              <a:t>• 产业合作：华为、中芯国际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583680"/>
            <a:ext cx="10360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9500"/>
                </a:solidFill>
                <a:latin typeface="微软雅黑"/>
              </a:defRPr>
            </a:pPr>
            <a:r>
              <a:t>已发表成果：Nature Communications 2篇，Nano Letters 4篇，Advanced Materials 3篇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15/30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关键技术成熟度（TRL）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忆阻器器件：TRL 7 - 已达到系统原型验证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神经形态电路：TRL 6 - 技术演示完成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晶圆级集成：TRL 5 - 组件验证完成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动态可塑网络：TRL 4 - 我们的创新突破点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软件工具链：TRL 5 - 实验室环境验证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技术路线可行性评估：&gt;85%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16/30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三大平台建设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⚛️ 忆阻器神经形态实验室：ALD设备、电子束光刻、参数测试仪 - 投资2800万元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💿 晶圆级集成测试平台：12英寸晶圆处理、百万级并行测试 - 投资3500万元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⚡ 能效测试与表征中心：pJ级功耗测量、实时监控系统 - 投资1200万元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📊 总投资规模：7500万元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🎯 建设周期：2026-2028年（3年完成）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17/30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风险管理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🔴 高影响风险：人才流失风险 - 对策：股权激励、薪酬改革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🟡 中等风险：技术变异性 - 对策：工艺优化、冗余设计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🟢 低影响风险：资金不足 - 对策：多元融资、分期投入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⚠️ 竞争风险：国际技术封锁 - 对策：自主可控路线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✅ 总体风险可控性：&gt;80%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19/30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理论突破目标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📄 顶级论文：Nature/Science 2-3篇，Nature子刊 6-8篇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📚 专著出版：《复杂网络与类脑智能》英文版，国际教材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📋 标准制定：国家标准1项，IEEE标准参与制定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🏆 学术声誉：培养3-5名IEEE/ACM Fellow，Keynote演讲10+次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🌍 国际影响：建立中国在智能涌现领域的理论话语权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20/30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技术产出时间轴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2027年：Gen1感知智能原型，10⁶突触规模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2029年：Gen2反应智能系统，10⁷突触规模，学习能力验证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2031年：Gen3适应智能平台，5×10⁸突触，环境适应性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2033年：Gen4创造智能商用芯片 ⭐ 产业化突破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2034年：Gen5通用智能AGI原型 ⭐⭐ Nature封面文章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2035年：Gen6超级智能理论验证 ⭐⭐⭐ 50倍能效提升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21/30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产业化影响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🏭 产业生态（2033-2035）：产业联盟≥10家，孵化企业3-5家，估值≥10亿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🔄 技术转移（2030-2032）：专利授权20+项，技术许可费5000万+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⚗️ 原型验证（2027-2029）：Gen1-Gen3技术演示，概念验证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📈 市场规模预测：2035年类脑芯片市场1000亿+，CAGR 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🎯 产业目标：打造千亿级物理AI产业集群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22/30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人才培养成果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🎓 博士生培养：100-120名，人均SCI论文≥3篇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📖 硕士生培养：250-300名，深造率≥40%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🎒 本科生培养：400-500名，升学率≥70%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👨‍🔬 博士后培养：60-80名，留津率≥50%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🏆 就业质量：80%进入世界500强或顶尖科研院所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23/30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核心研究内容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🔬 非线性材料网络动力学：忆阻器阵列集体动力学，相变材料协同开关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🌐 网络复杂动力学与演化：小世界自组织生长，无标度优先连接机制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🧠 智能-网络属性映射：连接组-认知映射，学习速度-网络拓扑关系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🎮 网络控制的确定性智能：可控性分析，驱动节点选择优化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⚡ 物理计算范式：模拟计算与数字计算融合，原位学习机制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24/30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本质差异深化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🧠 哲学基础：系统论vs还原论 - 智能来自连接涌现vs节点堆砌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📚 学习机制：无监督自组织vs大数据监督学习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⏰ 时间编码：神经时空编码vs离散时钟同步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⚡ 能量分配：80%用于连接vs 80%用于计算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🔍 可解释性：物理过程可观测vs黑盒模型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🎯 泛化能力：小样本泛化vs大数据拟合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25/30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国际对标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🇺🇸 TrueNorth（IBM）：数字神经元，缺乏物理动力学 vs 我们：忆阻器物理动力学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🇺🇸 Loihi 2（Intel）：CMOS工艺，简单连接 vs 我们：复杂网络拓扑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🇩🇪 BrainScaleS（Heidelberg）：模拟电路，无理论框架 vs 我们：iNEST统一理论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🇬🇧 SpiNNaker（Manchester）：数字仿真，非物理计算 vs 我们：物理AI范式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🇨🇳 天机芯（清华）：混合计算，缺乏复杂度量化 vs 我们：六级量化体系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26/30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国家重点实验室战略定位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🎯 战略定位：智能涌现与复杂网络国家重点实验室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🏆 申报优势：原创性（6个首创）+ 系统性（全链条）+ 战略性（卡脖子）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🌍 对标实验室：MIT Complex Systems、Stanford NeuroAI、ETH Neuromorphics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📈 发展目标：5年内成为全球智能涌现理论中心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🤝 合作模式：政府+高校+企业+国际，四位一体协同创新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27/30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合作与支持需求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🎯 纳入'十五五'国家重大专项：国家支持5-8亿，2026-2035十年持续投入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🏛️ 国家重点实验室认定：智能涌现与复杂网络，战略科技力量地位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👥 人才特区政策：海外人才绿色通道，薪酬市场化改革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🌐 国际合作机制：与MIT、Stanford等顶尖高校建立联合实验室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2C3E50"/>
                </a:solidFill>
                <a:latin typeface="微软雅黑"/>
              </a:defRPr>
            </a:pPr>
            <a:r>
              <a:t>• 💰 产业投资基金：设立100亿专项基金，支持产业化发展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808080"/>
                </a:solidFill>
                <a:latin typeface="微软雅黑"/>
              </a:defRPr>
            </a:pPr>
            <a:r>
              <a:t>29/30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2720</Words>
  <Application>Microsoft Office PowerPoint</Application>
  <PresentationFormat>自定义</PresentationFormat>
  <Paragraphs>367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leo@csivo.com</cp:lastModifiedBy>
  <cp:revision>2</cp:revision>
  <dcterms:created xsi:type="dcterms:W3CDTF">2013-01-27T09:14:16Z</dcterms:created>
  <dcterms:modified xsi:type="dcterms:W3CDTF">2025-11-10T23:33:30Z</dcterms:modified>
  <cp:category/>
</cp:coreProperties>
</file>