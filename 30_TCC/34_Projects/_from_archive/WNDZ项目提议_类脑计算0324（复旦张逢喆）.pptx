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
  </p:notesMasterIdLst>
  <p:sldIdLst>
    <p:sldId id="3789" r:id="rId3"/>
    <p:sldId id="3792" r:id="rId4"/>
    <p:sldId id="260" r:id="rId5"/>
  </p:sldIdLst>
  <p:sldSz cx="12195175" cy="685800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FE8"/>
    <a:srgbClr val="77933C"/>
    <a:srgbClr val="385D8A"/>
    <a:srgbClr val="C00000"/>
    <a:srgbClr val="E36C0A"/>
    <a:srgbClr val="1870C0"/>
    <a:srgbClr val="BBF4C9"/>
    <a:srgbClr val="D7E4BD"/>
    <a:srgbClr val="C1F2F1"/>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ä¸­åº¦æ ·å¼ 4 - å¼ºè°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ä¸­åº¦æ ·å¼ 2 - å¼ºè°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æµè²æ ·å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55" autoAdjust="0"/>
    <p:restoredTop sz="88095" autoAdjust="0"/>
  </p:normalViewPr>
  <p:slideViewPr>
    <p:cSldViewPr showGuides="1">
      <p:cViewPr varScale="1">
        <p:scale>
          <a:sx n="74" d="100"/>
          <a:sy n="74" d="100"/>
        </p:scale>
        <p:origin x="152" y="60"/>
      </p:cViewPr>
      <p:guideLst>
        <p:guide orient="horz" pos="-12"/>
        <p:guide pos="3841"/>
      </p:guideLst>
    </p:cSldViewPr>
  </p:slideViewPr>
  <p:notesTextViewPr>
    <p:cViewPr>
      <p:scale>
        <a:sx n="75" d="100"/>
        <a:sy n="75" d="100"/>
      </p:scale>
      <p:origin x="0" y="0"/>
    </p:cViewPr>
  </p:notesTextViewPr>
  <p:sorterViewPr>
    <p:cViewPr>
      <p:scale>
        <a:sx n="100" d="100"/>
        <a:sy n="100" d="100"/>
      </p:scale>
      <p:origin x="0" y="-6315"/>
    </p:cViewPr>
  </p:sorter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tags" Target="tags/tag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357473-301C-4F69-A7FC-AE1DEF9F2CA1}" type="datetimeFigureOut">
              <a:rPr lang="zh-CN" altLang="en-US" smtClean="0"/>
              <a:t>2026/3/24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F837B1-3942-4B36-A9A2-6AF914CEB0A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F837B1-3942-4B36-A9A2-6AF914CEB0AE}" type="slidenum">
              <a:rPr kumimoji="0" lang="zh-CN" altLang="en-US" sz="1200" b="0" i="0" u="none" strike="noStrike" kern="1200" cap="none" spc="0" normalizeH="0" baseline="0" noProof="0" smtClean="0">
                <a:ln>
                  <a:noFill/>
                </a:ln>
                <a:solidFill>
                  <a:prstClr val="black"/>
                </a:solidFill>
                <a:effectLst/>
                <a:uLnTx/>
                <a:uFillTx/>
                <a:latin typeface="DejaVu Sans" panose="020B0603030804020204" charset="0"/>
                <a:ea typeface="方正书宋_GBK" panose="02000000000000000000" charset="-122"/>
                <a:cs typeface="Times New Roman" panose="02020603050405020304" charset="0"/>
              </a:rPr>
              <a:t>1</a:t>
            </a:fld>
            <a:endParaRPr kumimoji="0" lang="zh-CN" altLang="en-US" sz="1200" b="0" i="0" u="none" strike="noStrike" kern="1200" cap="none" spc="0" normalizeH="0" baseline="0" noProof="0">
              <a:ln>
                <a:noFill/>
              </a:ln>
              <a:solidFill>
                <a:prstClr val="black"/>
              </a:solidFill>
              <a:effectLst/>
              <a:uLnTx/>
              <a:uFillTx/>
              <a:latin typeface="DejaVu Sans" panose="020B0603030804020204" charset="0"/>
              <a:ea typeface="方正书宋_GBK" panose="02000000000000000000" charset="-122"/>
              <a:cs typeface="Times New Roman" panose="02020603050405020304" charset="0"/>
            </a:endParaRPr>
          </a:p>
        </p:txBody>
      </p:sp>
    </p:spTree>
    <p:extLst>
      <p:ext uri="{BB962C8B-B14F-4D97-AF65-F5344CB8AC3E}">
        <p14:creationId xmlns:p14="http://schemas.microsoft.com/office/powerpoint/2010/main" val="333692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F837B1-3942-4B36-A9A2-6AF914CEB0AE}" type="slidenum">
              <a:rPr kumimoji="0" lang="zh-CN" altLang="en-US" sz="1200" b="0" i="0" u="none" strike="noStrike" kern="1200" cap="none" spc="0" normalizeH="0" baseline="0" noProof="0" smtClean="0">
                <a:ln>
                  <a:noFill/>
                </a:ln>
                <a:solidFill>
                  <a:prstClr val="black"/>
                </a:solidFill>
                <a:effectLst/>
                <a:uLnTx/>
                <a:uFillTx/>
                <a:latin typeface="DejaVu Sans" panose="020B0603030804020204" charset="0"/>
                <a:ea typeface="方正书宋_GBK" panose="02000000000000000000" charset="-122"/>
                <a:cs typeface="Times New Roman" panose="02020603050405020304" charset="0"/>
              </a:rPr>
              <a:t>2</a:t>
            </a:fld>
            <a:endParaRPr kumimoji="0" lang="zh-CN" altLang="en-US" sz="1200" b="0" i="0" u="none" strike="noStrike" kern="1200" cap="none" spc="0" normalizeH="0" baseline="0" noProof="0">
              <a:ln>
                <a:noFill/>
              </a:ln>
              <a:solidFill>
                <a:prstClr val="black"/>
              </a:solidFill>
              <a:effectLst/>
              <a:uLnTx/>
              <a:uFillTx/>
              <a:latin typeface="DejaVu Sans" panose="020B0603030804020204" charset="0"/>
              <a:ea typeface="方正书宋_GBK" panose="02000000000000000000" charset="-122"/>
              <a:cs typeface="Times New Roman" panose="02020603050405020304" charset="0"/>
            </a:endParaRPr>
          </a:p>
        </p:txBody>
      </p:sp>
    </p:spTree>
    <p:extLst>
      <p:ext uri="{BB962C8B-B14F-4D97-AF65-F5344CB8AC3E}">
        <p14:creationId xmlns:p14="http://schemas.microsoft.com/office/powerpoint/2010/main" val="4126103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Darwin3:24*24tile</a:t>
            </a:r>
            <a:r>
              <a:rPr lang="zh-CN" altLang="zh-CN" sz="1200" kern="1200" dirty="0">
                <a:solidFill>
                  <a:schemeClr val="tx1"/>
                </a:solidFill>
                <a:effectLst/>
                <a:latin typeface="+mn-lt"/>
                <a:ea typeface="+mn-ea"/>
                <a:cs typeface="+mn-cs"/>
              </a:rPr>
              <a:t>，每个</a:t>
            </a:r>
            <a:r>
              <a:rPr lang="en-US" altLang="zh-CN" sz="1200" kern="1200" dirty="0">
                <a:solidFill>
                  <a:schemeClr val="tx1"/>
                </a:solidFill>
                <a:effectLst/>
                <a:latin typeface="+mn-lt"/>
                <a:ea typeface="+mn-ea"/>
                <a:cs typeface="+mn-cs"/>
              </a:rPr>
              <a:t>tile</a:t>
            </a:r>
            <a:r>
              <a:rPr lang="zh-CN" altLang="zh-CN" sz="1200" kern="1200" dirty="0">
                <a:solidFill>
                  <a:schemeClr val="tx1"/>
                </a:solidFill>
                <a:effectLst/>
                <a:latin typeface="+mn-lt"/>
                <a:ea typeface="+mn-ea"/>
                <a:cs typeface="+mn-cs"/>
              </a:rPr>
              <a:t>最多支持</a:t>
            </a:r>
            <a:r>
              <a:rPr lang="en-US" altLang="zh-CN" sz="1200" kern="1200" dirty="0">
                <a:solidFill>
                  <a:schemeClr val="tx1"/>
                </a:solidFill>
                <a:effectLst/>
                <a:latin typeface="+mn-lt"/>
                <a:ea typeface="+mn-ea"/>
                <a:cs typeface="+mn-cs"/>
              </a:rPr>
              <a:t>4096</a:t>
            </a:r>
            <a:r>
              <a:rPr lang="zh-CN" altLang="zh-CN" sz="1200" kern="1200" dirty="0">
                <a:solidFill>
                  <a:schemeClr val="tx1"/>
                </a:solidFill>
                <a:effectLst/>
                <a:latin typeface="+mn-lt"/>
                <a:ea typeface="+mn-ea"/>
                <a:cs typeface="+mn-cs"/>
              </a:rPr>
              <a:t>个逻辑神经元，</a:t>
            </a:r>
            <a:r>
              <a:rPr lang="zh-CN" altLang="en-US" sz="1200" kern="1200" dirty="0">
                <a:solidFill>
                  <a:schemeClr val="tx1"/>
                </a:solidFill>
                <a:effectLst/>
                <a:latin typeface="+mn-lt"/>
                <a:ea typeface="+mn-ea"/>
                <a:cs typeface="+mn-cs"/>
              </a:rPr>
              <a:t>总共约</a:t>
            </a:r>
            <a:r>
              <a:rPr lang="en-US" altLang="zh-CN" sz="1200" kern="1200" dirty="0">
                <a:solidFill>
                  <a:schemeClr val="tx1"/>
                </a:solidFill>
                <a:effectLst/>
                <a:latin typeface="+mn-lt"/>
                <a:ea typeface="+mn-ea"/>
                <a:cs typeface="+mn-cs"/>
              </a:rPr>
              <a:t>240W</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不存在时分复用的情况。其提到工作频率（如</a:t>
            </a:r>
            <a:r>
              <a:rPr lang="en-US" altLang="zh-CN" sz="1200" kern="1200" dirty="0">
                <a:solidFill>
                  <a:schemeClr val="tx1"/>
                </a:solidFill>
                <a:effectLst/>
                <a:latin typeface="+mn-lt"/>
                <a:ea typeface="+mn-ea"/>
                <a:cs typeface="+mn-cs"/>
              </a:rPr>
              <a:t>300-400 MHz</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。突触</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亿。</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Loihi2</a:t>
            </a:r>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128</a:t>
            </a:r>
            <a:r>
              <a:rPr lang="zh-CN" altLang="zh-CN" sz="1200" kern="1200" dirty="0">
                <a:solidFill>
                  <a:schemeClr val="tx1"/>
                </a:solidFill>
                <a:effectLst/>
                <a:latin typeface="+mn-lt"/>
                <a:ea typeface="+mn-ea"/>
                <a:cs typeface="+mn-cs"/>
              </a:rPr>
              <a:t>个核心，每个核心最多支持</a:t>
            </a:r>
            <a:r>
              <a:rPr lang="en-US" altLang="zh-CN" sz="1200" kern="1200" dirty="0">
                <a:solidFill>
                  <a:schemeClr val="tx1"/>
                </a:solidFill>
                <a:effectLst/>
                <a:latin typeface="+mn-lt"/>
                <a:ea typeface="+mn-ea"/>
                <a:cs typeface="+mn-cs"/>
              </a:rPr>
              <a:t>8192</a:t>
            </a:r>
            <a:r>
              <a:rPr lang="zh-CN" altLang="zh-CN" sz="1200" kern="1200" dirty="0">
                <a:solidFill>
                  <a:schemeClr val="tx1"/>
                </a:solidFill>
                <a:effectLst/>
                <a:latin typeface="+mn-lt"/>
                <a:ea typeface="+mn-ea"/>
                <a:cs typeface="+mn-cs"/>
              </a:rPr>
              <a:t>，大概</a:t>
            </a:r>
            <a:r>
              <a:rPr lang="en-US" altLang="zh-CN" sz="1200" kern="1200" dirty="0">
                <a:solidFill>
                  <a:schemeClr val="tx1"/>
                </a:solidFill>
                <a:effectLst/>
                <a:latin typeface="+mn-lt"/>
                <a:ea typeface="+mn-ea"/>
                <a:cs typeface="+mn-cs"/>
              </a:rPr>
              <a:t>100W</a:t>
            </a:r>
            <a:r>
              <a:rPr lang="zh-CN" altLang="en-US" sz="1200" kern="1200" dirty="0">
                <a:solidFill>
                  <a:schemeClr val="tx1"/>
                </a:solidFill>
                <a:effectLst/>
                <a:latin typeface="+mn-lt"/>
                <a:ea typeface="+mn-ea"/>
                <a:cs typeface="+mn-cs"/>
              </a:rPr>
              <a:t>。突触</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亿到数亿（有压缩）</a:t>
            </a: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BEE5C2BF-7BFD-4F46-AF21-8F64B40E6B78}" type="slidenum">
              <a:rPr lang="zh-CN" altLang="en-US" smtClean="0"/>
              <a:t>3</a:t>
            </a:fld>
            <a:endParaRPr lang="zh-CN" altLang="en-US"/>
          </a:p>
        </p:txBody>
      </p:sp>
    </p:spTree>
    <p:extLst>
      <p:ext uri="{BB962C8B-B14F-4D97-AF65-F5344CB8AC3E}">
        <p14:creationId xmlns:p14="http://schemas.microsoft.com/office/powerpoint/2010/main" val="55461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638" y="2130426"/>
            <a:ext cx="10365899" cy="1470025"/>
          </a:xfrm>
        </p:spPr>
        <p:txBody>
          <a:bodyPr/>
          <a:lstStyle/>
          <a:p>
            <a:r>
              <a:rPr lang="zh-CN" altLang="en-US"/>
              <a:t>单击此处编辑母版标题样式</a:t>
            </a:r>
          </a:p>
        </p:txBody>
      </p:sp>
      <p:sp>
        <p:nvSpPr>
          <p:cNvPr id="3" name="副标题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1"/>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759"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9214"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93FFD15-FD4A-41A0-98B0-8A0E50279E3E}"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1502" y="274639"/>
            <a:ext cx="2743914"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759" y="274639"/>
            <a:ext cx="802849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93FFD15-FD4A-41A0-98B0-8A0E50279E3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397" y="1122363"/>
            <a:ext cx="9146381"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397" y="3602038"/>
            <a:ext cx="914638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8338"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2067" y="4589464"/>
            <a:ext cx="10518338"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41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3808" y="1825625"/>
            <a:ext cx="5182949"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8338"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40007" y="1681163"/>
            <a:ext cx="51591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40007" y="2505075"/>
            <a:ext cx="515913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3807" y="1681163"/>
            <a:ext cx="518453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3807" y="2505075"/>
            <a:ext cx="518453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4538" y="987426"/>
            <a:ext cx="617380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4538" y="987426"/>
            <a:ext cx="6173807"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40007" y="2057400"/>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7172" y="365125"/>
            <a:ext cx="262958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418" y="365125"/>
            <a:ext cx="7736314"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2C373-83E8-404D-A870-0C99071BEBA1}" type="datetimeFigureOut">
              <a:rPr lang="zh-CN" altLang="en-US" smtClean="0"/>
              <a:t>2026/3/24</a:t>
            </a:fld>
            <a:endParaRPr lang="zh-CN" altLang="en-US"/>
          </a:p>
        </p:txBody>
      </p:sp>
      <p:sp>
        <p:nvSpPr>
          <p:cNvPr id="5" name="页脚占位符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FFD15-FD4A-41A0-98B0-8A0E50279E3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419" y="365126"/>
            <a:ext cx="10518338"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419" y="1825625"/>
            <a:ext cx="10518338"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418" y="6356351"/>
            <a:ext cx="27439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5758D-A3C3-4E88-8AC0-22500507BD7E}" type="datetimeFigureOut">
              <a:rPr lang="zh-CN" altLang="en-US" smtClean="0">
                <a:solidFill>
                  <a:prstClr val="black">
                    <a:tint val="75000"/>
                  </a:prstClr>
                </a:solidFill>
              </a:rPr>
              <a:t>2026/3/24</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9652" y="6356351"/>
            <a:ext cx="41158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2843" y="6356351"/>
            <a:ext cx="274391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E786F-588D-4932-A7B2-AE3451FA4ACA}"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85019" cy="5831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sp>
        <p:nvSpPr>
          <p:cNvPr id="7" name="文本框 9"/>
          <p:cNvSpPr txBox="1"/>
          <p:nvPr/>
        </p:nvSpPr>
        <p:spPr>
          <a:xfrm>
            <a:off x="795655" y="206375"/>
            <a:ext cx="11026140" cy="469341"/>
          </a:xfrm>
          <a:prstGeom prst="rect">
            <a:avLst/>
          </a:prstGeom>
          <a:noFill/>
        </p:spPr>
        <p:txBody>
          <a:bodyPr wrap="square" lIns="68562" tIns="34281" rIns="68562" bIns="34281" rtlCol="0">
            <a:spAutoFit/>
          </a:bodyPr>
          <a:lstStyle>
            <a:defPPr>
              <a:defRPr lang="zh-CN"/>
            </a:defPPr>
            <a:lvl2pPr marL="0" lvl="1">
              <a:defRPr sz="2600" b="1">
                <a:solidFill>
                  <a:srgbClr val="2C58A6"/>
                </a:solidFill>
                <a:latin typeface="微软雅黑" panose="020B0503020204020204" pitchFamily="34" charset="-122"/>
                <a:ea typeface="微软雅黑" panose="020B0503020204020204" pitchFamily="34" charset="-122"/>
                <a:cs typeface="微软雅黑" panose="020B0503020204020204" pitchFamily="34" charset="-122"/>
              </a:defRPr>
            </a:lvl2pPr>
          </a:lstStyle>
          <a:p>
            <a:pPr lvl="1">
              <a:defRPr/>
            </a:pPr>
            <a:r>
              <a:rPr lang="zh-CN" altLang="en-US" dirty="0">
                <a:solidFill>
                  <a:srgbClr val="2F5EB0"/>
                </a:solidFill>
                <a:sym typeface="Arial" panose="02080604020202020204" pitchFamily="34" charset="0"/>
              </a:rPr>
              <a:t>基于选择性模拟的类脑计算架构设计与验证</a:t>
            </a:r>
            <a:endParaRPr kumimoji="0" lang="zh-CN" altLang="en-US" sz="2000" b="1" i="0" u="none" strike="noStrike" kern="1200" cap="none" spc="0" normalizeH="0" baseline="0" noProof="0" dirty="0">
              <a:ln>
                <a:noFill/>
              </a:ln>
              <a:solidFill>
                <a:srgbClr val="2F5EB0"/>
              </a:solidFill>
              <a:effectLst/>
              <a:uLnTx/>
              <a:uFillTx/>
              <a:latin typeface="微软雅黑" panose="020B0503020204020204" pitchFamily="34" charset="-122"/>
              <a:ea typeface="微软雅黑" panose="020B0503020204020204" pitchFamily="34" charset="-122"/>
              <a:sym typeface="Arial" panose="02080604020202020204" pitchFamily="34" charset="0"/>
            </a:endParaRPr>
          </a:p>
        </p:txBody>
      </p:sp>
      <p:grpSp>
        <p:nvGrpSpPr>
          <p:cNvPr id="41" name="组合 40"/>
          <p:cNvGrpSpPr/>
          <p:nvPr/>
        </p:nvGrpSpPr>
        <p:grpSpPr>
          <a:xfrm>
            <a:off x="192931" y="0"/>
            <a:ext cx="504656" cy="621000"/>
            <a:chOff x="841003" y="360040"/>
            <a:chExt cx="504056" cy="836712"/>
          </a:xfrm>
          <a:gradFill>
            <a:gsLst>
              <a:gs pos="0">
                <a:srgbClr val="0E1A40"/>
              </a:gs>
              <a:gs pos="100000">
                <a:srgbClr val="2F5EB0"/>
              </a:gs>
            </a:gsLst>
            <a:lin ang="13800000" scaled="0"/>
          </a:gradFill>
        </p:grpSpPr>
        <p:sp>
          <p:nvSpPr>
            <p:cNvPr id="42" name="矩形 41"/>
            <p:cNvSpPr/>
            <p:nvPr/>
          </p:nvSpPr>
          <p:spPr>
            <a:xfrm>
              <a:off x="841003" y="360040"/>
              <a:ext cx="504056" cy="5486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sp>
          <p:nvSpPr>
            <p:cNvPr id="43" name="等腰三角形 4"/>
            <p:cNvSpPr/>
            <p:nvPr/>
          </p:nvSpPr>
          <p:spPr>
            <a:xfrm rot="10800000">
              <a:off x="841003" y="908720"/>
              <a:ext cx="504056" cy="28803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grpSp>
      <p:sp>
        <p:nvSpPr>
          <p:cNvPr id="20" name="文本框 19"/>
          <p:cNvSpPr txBox="1"/>
          <p:nvPr/>
        </p:nvSpPr>
        <p:spPr>
          <a:xfrm>
            <a:off x="464692" y="736295"/>
            <a:ext cx="11357103" cy="499111"/>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Clr>
                <a:srgbClr val="C00000"/>
              </a:buClr>
              <a:buFont typeface="Wingdings" panose="05000000000000000000" pitchFamily="2" charset="2"/>
              <a:buChar char="p"/>
              <a:defRPr/>
            </a:pPr>
            <a:r>
              <a:rPr kumimoji="0" lang="zh-CN" altLang="en-US"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rPr>
              <a:t>背景意义</a:t>
            </a:r>
            <a:endParaRPr kumimoji="0" lang="en-US" altLang="zh-CN"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endParaRPr>
          </a:p>
        </p:txBody>
      </p:sp>
      <p:sp>
        <p:nvSpPr>
          <p:cNvPr id="22" name="文本框 21">
            <a:extLst>
              <a:ext uri="{FF2B5EF4-FFF2-40B4-BE49-F238E27FC236}">
                <a16:creationId xmlns:a16="http://schemas.microsoft.com/office/drawing/2014/main" id="{FE8DA215-4CC3-4042-8832-838216FE7F8F}"/>
              </a:ext>
            </a:extLst>
          </p:cNvPr>
          <p:cNvSpPr txBox="1"/>
          <p:nvPr/>
        </p:nvSpPr>
        <p:spPr>
          <a:xfrm>
            <a:off x="464692" y="3551784"/>
            <a:ext cx="11357103" cy="499111"/>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Clr>
                <a:srgbClr val="C00000"/>
              </a:buClr>
              <a:buFont typeface="Wingdings" panose="05000000000000000000" pitchFamily="2" charset="2"/>
              <a:buChar char="p"/>
              <a:defRPr/>
            </a:pPr>
            <a:r>
              <a:rPr kumimoji="0" lang="zh-CN" altLang="en-US"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rPr>
              <a:t>国内外研究现状与发展趋势</a:t>
            </a:r>
            <a:endParaRPr lang="en-US" altLang="zh-CN" sz="2000" b="1" dirty="0">
              <a:solidFill>
                <a:srgbClr val="C00000"/>
              </a:solidFill>
              <a:latin typeface="Arial" panose="02080604020202020204" pitchFamily="34" charset="0"/>
              <a:ea typeface="微软雅黑" panose="020B0503020204020204" pitchFamily="34" charset="-122"/>
              <a:sym typeface="Arial" panose="02080604020202020204" pitchFamily="34" charset="0"/>
            </a:endParaRPr>
          </a:p>
        </p:txBody>
      </p:sp>
      <p:sp>
        <p:nvSpPr>
          <p:cNvPr id="4" name="文本框 3">
            <a:extLst>
              <a:ext uri="{FF2B5EF4-FFF2-40B4-BE49-F238E27FC236}">
                <a16:creationId xmlns:a16="http://schemas.microsoft.com/office/drawing/2014/main" id="{1DC8593A-40F5-4572-8929-596FB7175F5C}"/>
              </a:ext>
            </a:extLst>
          </p:cNvPr>
          <p:cNvSpPr txBox="1"/>
          <p:nvPr/>
        </p:nvSpPr>
        <p:spPr>
          <a:xfrm>
            <a:off x="409587" y="1269000"/>
            <a:ext cx="11232000" cy="2342244"/>
          </a:xfrm>
          <a:prstGeom prst="rect">
            <a:avLst/>
          </a:prstGeom>
          <a:noFill/>
        </p:spPr>
        <p:txBody>
          <a:bodyPr wrap="square" rtlCol="0">
            <a:spAutoFit/>
          </a:bodyPr>
          <a:lstStyle/>
          <a:p>
            <a:pPr marL="268288" indent="-268288">
              <a:lnSpc>
                <a:spcPct val="150000"/>
              </a:lnSpc>
              <a:spcBef>
                <a:spcPct val="0"/>
              </a:spcBef>
              <a:buFont typeface="Wingdings" panose="05000000000000000000" pitchFamily="2" charset="2"/>
              <a:buChar char="Ø"/>
            </a:pP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具身机器人、无人机等无源端侧设备可安装的神经形态芯片数量有限，无法部署大型脉冲神经网络模型，智能上限过低</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endParaRPr>
          </a:p>
          <a:p>
            <a:pPr marL="725488" lvl="1" indent="-268288">
              <a:lnSpc>
                <a:spcPct val="150000"/>
              </a:lnSpc>
              <a:spcBef>
                <a:spcPct val="0"/>
              </a:spcBef>
              <a:buFont typeface="Wingdings" panose="05000000000000000000" pitchFamily="2" charset="2"/>
              <a:buChar char="Ø"/>
            </a:pP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当前芯片神经元数量</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100</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万级，远不及小鼠皮层</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1400</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万（</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0.1</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瓦），人脑皮层</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160</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亿（</a:t>
            </a:r>
            <a:r>
              <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20</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瓦）</a:t>
            </a:r>
            <a:endParaRPr lang="en-US" altLang="zh-CN"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endParaRPr>
          </a:p>
          <a:p>
            <a:pPr marL="725488" lvl="1" indent="-268288">
              <a:lnSpc>
                <a:spcPct val="150000"/>
              </a:lnSpc>
              <a:spcBef>
                <a:spcPct val="0"/>
              </a:spcBef>
              <a:buFont typeface="Wingdings" panose="05000000000000000000" pitchFamily="2" charset="2"/>
              <a:buChar char="Ø"/>
            </a:pP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根据能量预算原理</a:t>
            </a:r>
            <a:r>
              <a:rPr lang="zh-CN" altLang="en-US" sz="200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和活跃神经元头部</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效应，短时间内</a:t>
            </a:r>
            <a:r>
              <a:rPr lang="en-US" altLang="zh-CN"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95%</a:t>
            </a:r>
            <a:r>
              <a:rPr lang="zh-CN" altLang="en-US"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以上神经元不激发</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a:t>
            </a:r>
            <a:r>
              <a:rPr lang="zh-CN" altLang="en-US" sz="2000"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暗神经元</a:t>
            </a:r>
            <a:r>
              <a:rPr lang="zh-CN" altLang="en-US" sz="20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），区分活跃神经元与暗神经元，可以极大提高类脑架构计算效率，支持更大规模的模型</a:t>
            </a:r>
          </a:p>
        </p:txBody>
      </p:sp>
      <p:sp>
        <p:nvSpPr>
          <p:cNvPr id="13" name="文本框 12">
            <a:extLst>
              <a:ext uri="{FF2B5EF4-FFF2-40B4-BE49-F238E27FC236}">
                <a16:creationId xmlns:a16="http://schemas.microsoft.com/office/drawing/2014/main" id="{E8BBE7E4-438B-45D6-9399-6C5D800F1325}"/>
              </a:ext>
            </a:extLst>
          </p:cNvPr>
          <p:cNvSpPr txBox="1"/>
          <p:nvPr/>
        </p:nvSpPr>
        <p:spPr>
          <a:xfrm>
            <a:off x="409587" y="4238265"/>
            <a:ext cx="7848000" cy="1791196"/>
          </a:xfrm>
          <a:prstGeom prst="rect">
            <a:avLst/>
          </a:prstGeom>
          <a:noFill/>
          <a:ln w="19050">
            <a:solidFill>
              <a:schemeClr val="tx1"/>
            </a:solidFill>
          </a:ln>
        </p:spPr>
        <p:txBody>
          <a:bodyPr wrap="square" rtlCol="0">
            <a:spAutoFit/>
          </a:bodyPr>
          <a:lstStyle/>
          <a:p>
            <a:pPr marL="268288" indent="-268288">
              <a:lnSpc>
                <a:spcPct val="150000"/>
              </a:lnSpc>
              <a:spcBef>
                <a:spcPct val="0"/>
              </a:spcBef>
              <a:buFont typeface="Wingdings" panose="05000000000000000000" pitchFamily="2" charset="2"/>
              <a:buChar char="Ø"/>
            </a:pPr>
            <a:r>
              <a:rPr lang="zh-CN" altLang="en-US" sz="19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智能机理</a:t>
            </a:r>
            <a:r>
              <a:rPr lang="zh-CN" altLang="en-US"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：各国纷纷推出脑计划，尝试破解大脑智能产生机制</a:t>
            </a:r>
            <a:endParaRPr lang="en-US" altLang="zh-CN"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endParaRPr>
          </a:p>
          <a:p>
            <a:pPr marL="268288" indent="-268288">
              <a:lnSpc>
                <a:spcPct val="150000"/>
              </a:lnSpc>
              <a:spcBef>
                <a:spcPct val="0"/>
              </a:spcBef>
              <a:buFont typeface="Wingdings" panose="05000000000000000000" pitchFamily="2" charset="2"/>
              <a:buChar char="Ø"/>
            </a:pPr>
            <a:r>
              <a:rPr lang="zh-CN" altLang="en-US" sz="19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类脑模型</a:t>
            </a:r>
            <a:r>
              <a:rPr lang="zh-CN" altLang="en-US"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：以</a:t>
            </a:r>
            <a:r>
              <a:rPr lang="en-US" altLang="zh-CN"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SNN</a:t>
            </a:r>
            <a:r>
              <a:rPr lang="zh-CN" altLang="en-US"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为代表的类脑模型蓬勃发展，如瞬悉、天机</a:t>
            </a:r>
            <a:endParaRPr lang="en-US" altLang="zh-CN"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endParaRPr>
          </a:p>
          <a:p>
            <a:pPr marL="268288" indent="-268288">
              <a:lnSpc>
                <a:spcPct val="150000"/>
              </a:lnSpc>
              <a:spcBef>
                <a:spcPct val="0"/>
              </a:spcBef>
              <a:buFont typeface="Wingdings" panose="05000000000000000000" pitchFamily="2" charset="2"/>
              <a:buChar char="Ø"/>
            </a:pPr>
            <a:r>
              <a:rPr lang="zh-CN" altLang="en-US" sz="19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类脑芯片</a:t>
            </a:r>
            <a:r>
              <a:rPr lang="zh-CN" altLang="en-US"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：多款</a:t>
            </a:r>
            <a:r>
              <a:rPr lang="zh-CN" altLang="en-US"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神经形态</a:t>
            </a:r>
            <a:r>
              <a:rPr lang="zh-CN" altLang="en-US"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芯片已面世，如</a:t>
            </a:r>
            <a:r>
              <a:rPr lang="en-US" altLang="zh-CN" sz="1900" dirty="0" err="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TrueNorth</a:t>
            </a:r>
            <a:r>
              <a:rPr lang="zh-CN" altLang="en-US"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a:t>
            </a:r>
            <a:r>
              <a:rPr lang="en-US" altLang="zh-CN" sz="1900" dirty="0" err="1">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Loihi</a:t>
            </a:r>
            <a:r>
              <a:rPr lang="zh-CN" altLang="en-US" sz="1900" dirty="0">
                <a:solidFill>
                  <a:schemeClr val="tx1"/>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、达尔文</a:t>
            </a:r>
          </a:p>
          <a:p>
            <a:pPr marL="268288" indent="-268288">
              <a:lnSpc>
                <a:spcPct val="150000"/>
              </a:lnSpc>
              <a:spcBef>
                <a:spcPct val="0"/>
              </a:spcBef>
              <a:buFont typeface="Wingdings" panose="05000000000000000000" pitchFamily="2" charset="2"/>
              <a:buChar char="Ø"/>
            </a:pPr>
            <a:r>
              <a:rPr lang="zh-CN" altLang="en-US" sz="1900" b="1" dirty="0">
                <a:solidFill>
                  <a:srgbClr val="FF0000"/>
                </a:solidFill>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端侧类脑芯片</a:t>
            </a:r>
            <a:r>
              <a:rPr lang="zh-CN" altLang="en-US"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rPr>
              <a:t>：追求单芯片超高神经元与突触数量的架构还未出现</a:t>
            </a:r>
            <a:endParaRPr lang="en-US" altLang="zh-CN" sz="1900" dirty="0">
              <a:latin typeface="Times New Roman" panose="02020603050405020304" pitchFamily="18" charset="0"/>
              <a:ea typeface="仿宋" panose="02010609060101010101" pitchFamily="49" charset="-122"/>
              <a:cs typeface="Times New Roman" panose="02020603050405020304" pitchFamily="18" charset="0"/>
              <a:sym typeface="微软雅黑" panose="020B0503020204020204" pitchFamily="34" charset="-122"/>
            </a:endParaRPr>
          </a:p>
        </p:txBody>
      </p:sp>
      <p:sp>
        <p:nvSpPr>
          <p:cNvPr id="6" name="文本框 5">
            <a:extLst>
              <a:ext uri="{FF2B5EF4-FFF2-40B4-BE49-F238E27FC236}">
                <a16:creationId xmlns:a16="http://schemas.microsoft.com/office/drawing/2014/main" id="{845D3F3B-1BD7-455A-858D-0AB674D4784B}"/>
              </a:ext>
            </a:extLst>
          </p:cNvPr>
          <p:cNvSpPr txBox="1"/>
          <p:nvPr/>
        </p:nvSpPr>
        <p:spPr>
          <a:xfrm>
            <a:off x="8372749" y="4533698"/>
            <a:ext cx="3672001" cy="1200329"/>
          </a:xfrm>
          <a:prstGeom prst="rect">
            <a:avLst/>
          </a:prstGeom>
          <a:noFill/>
        </p:spPr>
        <p:txBody>
          <a:bodyPr wrap="square" rtlCol="0">
            <a:spAutoFit/>
          </a:bodyPr>
          <a:lstStyle/>
          <a:p>
            <a:pPr algn="ctr">
              <a:spcBef>
                <a:spcPct val="0"/>
              </a:spcBef>
            </a:pPr>
            <a:r>
              <a:rPr lang="zh-CN" altLang="en-US" sz="2400" b="1" dirty="0">
                <a:solidFill>
                  <a:srgbClr val="FF0000"/>
                </a:solidFill>
                <a:latin typeface="仿宋" panose="02010609060101010101" pitchFamily="49" charset="-122"/>
                <a:ea typeface="仿宋" panose="02010609060101010101" pitchFamily="49" charset="-122"/>
                <a:sym typeface="微软雅黑" panose="020B0503020204020204" pitchFamily="34" charset="-122"/>
              </a:rPr>
              <a:t>单芯片超高神经元与突触数量是大型类脑模型部署的基础</a:t>
            </a:r>
            <a:endParaRPr lang="en-US" altLang="zh-CN" sz="2400" b="1" dirty="0">
              <a:solidFill>
                <a:srgbClr val="FF0000"/>
              </a:solidFill>
              <a:latin typeface="仿宋" panose="02010609060101010101" pitchFamily="49" charset="-122"/>
              <a:ea typeface="仿宋" panose="02010609060101010101" pitchFamily="49" charset="-122"/>
              <a:sym typeface="微软雅黑" panose="020B0503020204020204" pitchFamily="34" charset="-122"/>
            </a:endParaRPr>
          </a:p>
        </p:txBody>
      </p:sp>
    </p:spTree>
    <p:extLst>
      <p:ext uri="{BB962C8B-B14F-4D97-AF65-F5344CB8AC3E}">
        <p14:creationId xmlns:p14="http://schemas.microsoft.com/office/powerpoint/2010/main" val="67279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85019" cy="5831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sp>
        <p:nvSpPr>
          <p:cNvPr id="7" name="文本框 9"/>
          <p:cNvSpPr txBox="1"/>
          <p:nvPr/>
        </p:nvSpPr>
        <p:spPr>
          <a:xfrm>
            <a:off x="795655" y="206375"/>
            <a:ext cx="11026140" cy="469341"/>
          </a:xfrm>
          <a:prstGeom prst="rect">
            <a:avLst/>
          </a:prstGeom>
          <a:noFill/>
        </p:spPr>
        <p:txBody>
          <a:bodyPr wrap="square" lIns="68562" tIns="34281" rIns="68562" bIns="34281" rtlCol="0">
            <a:spAutoFit/>
          </a:bodyPr>
          <a:lstStyle>
            <a:defPPr>
              <a:defRPr lang="zh-CN"/>
            </a:defPPr>
            <a:lvl2pPr marL="0" lvl="1">
              <a:defRPr sz="2600" b="1">
                <a:solidFill>
                  <a:srgbClr val="2C58A6"/>
                </a:solidFill>
                <a:latin typeface="微软雅黑" panose="020B0503020204020204" pitchFamily="34" charset="-122"/>
                <a:ea typeface="微软雅黑" panose="020B0503020204020204" pitchFamily="34" charset="-122"/>
                <a:cs typeface="微软雅黑" panose="020B0503020204020204" pitchFamily="34" charset="-122"/>
              </a:defRPr>
            </a:lvl2pPr>
          </a:lstStyle>
          <a:p>
            <a:pPr lvl="1">
              <a:defRPr/>
            </a:pPr>
            <a:r>
              <a:rPr lang="zh-CN" altLang="en-US" dirty="0">
                <a:solidFill>
                  <a:srgbClr val="2F5EB0"/>
                </a:solidFill>
                <a:sym typeface="Arial" panose="02080604020202020204" pitchFamily="34" charset="0"/>
              </a:rPr>
              <a:t>基于选择性模拟的类脑计算架构设计与验证</a:t>
            </a:r>
            <a:endParaRPr kumimoji="0" lang="zh-CN" altLang="en-US" sz="3200" b="1" i="0" u="none" strike="noStrike" kern="1200" cap="none" spc="0" normalizeH="0" baseline="0" noProof="0" dirty="0">
              <a:ln>
                <a:noFill/>
              </a:ln>
              <a:solidFill>
                <a:srgbClr val="2F5EB0"/>
              </a:solidFill>
              <a:effectLst/>
              <a:uLnTx/>
              <a:uFillTx/>
              <a:latin typeface="微软雅黑" panose="020B0503020204020204" pitchFamily="34" charset="-122"/>
              <a:ea typeface="微软雅黑" panose="020B0503020204020204" pitchFamily="34" charset="-122"/>
              <a:sym typeface="Arial" panose="02080604020202020204" pitchFamily="34" charset="0"/>
            </a:endParaRPr>
          </a:p>
        </p:txBody>
      </p:sp>
      <p:grpSp>
        <p:nvGrpSpPr>
          <p:cNvPr id="41" name="组合 40"/>
          <p:cNvGrpSpPr/>
          <p:nvPr/>
        </p:nvGrpSpPr>
        <p:grpSpPr>
          <a:xfrm>
            <a:off x="192931" y="0"/>
            <a:ext cx="504656" cy="621000"/>
            <a:chOff x="841003" y="360040"/>
            <a:chExt cx="504056" cy="836712"/>
          </a:xfrm>
          <a:gradFill>
            <a:gsLst>
              <a:gs pos="0">
                <a:srgbClr val="0E1A40"/>
              </a:gs>
              <a:gs pos="100000">
                <a:srgbClr val="2F5EB0"/>
              </a:gs>
            </a:gsLst>
            <a:lin ang="13800000" scaled="0"/>
          </a:gradFill>
        </p:grpSpPr>
        <p:sp>
          <p:nvSpPr>
            <p:cNvPr id="42" name="矩形 41"/>
            <p:cNvSpPr/>
            <p:nvPr/>
          </p:nvSpPr>
          <p:spPr>
            <a:xfrm>
              <a:off x="841003" y="360040"/>
              <a:ext cx="504056" cy="5486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sp>
          <p:nvSpPr>
            <p:cNvPr id="43" name="等腰三角形 4"/>
            <p:cNvSpPr/>
            <p:nvPr/>
          </p:nvSpPr>
          <p:spPr>
            <a:xfrm rot="10800000">
              <a:off x="841003" y="908720"/>
              <a:ext cx="504056" cy="28803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DejaVu Sans" panose="020B0603030804020204"/>
                <a:cs typeface="+mn-cs"/>
              </a:endParaRPr>
            </a:p>
          </p:txBody>
        </p:sp>
      </p:grpSp>
      <p:sp>
        <p:nvSpPr>
          <p:cNvPr id="20" name="文本框 19"/>
          <p:cNvSpPr txBox="1"/>
          <p:nvPr/>
        </p:nvSpPr>
        <p:spPr>
          <a:xfrm>
            <a:off x="265587" y="1024625"/>
            <a:ext cx="11735999" cy="499111"/>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Clr>
                <a:srgbClr val="C00000"/>
              </a:buClr>
              <a:buFont typeface="Wingdings" panose="05000000000000000000" pitchFamily="2" charset="2"/>
              <a:buChar char="p"/>
              <a:defRPr/>
            </a:pPr>
            <a:r>
              <a:rPr kumimoji="0" lang="zh-CN" altLang="en-US"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rPr>
              <a:t>研究内容</a:t>
            </a:r>
            <a:endParaRPr kumimoji="0" lang="en-US" altLang="zh-CN"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endParaRPr>
          </a:p>
        </p:txBody>
      </p:sp>
      <p:sp>
        <p:nvSpPr>
          <p:cNvPr id="10" name="文本框 9">
            <a:extLst>
              <a:ext uri="{FF2B5EF4-FFF2-40B4-BE49-F238E27FC236}">
                <a16:creationId xmlns:a16="http://schemas.microsoft.com/office/drawing/2014/main" id="{E21EFB7B-27B0-EC43-AA4F-76998846EF31}"/>
              </a:ext>
            </a:extLst>
          </p:cNvPr>
          <p:cNvSpPr txBox="1"/>
          <p:nvPr/>
        </p:nvSpPr>
        <p:spPr>
          <a:xfrm>
            <a:off x="265587" y="3653390"/>
            <a:ext cx="11357103" cy="499047"/>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Clr>
                <a:srgbClr val="C00000"/>
              </a:buClr>
              <a:buFont typeface="Wingdings" panose="05000000000000000000" pitchFamily="2" charset="2"/>
              <a:buChar char="p"/>
              <a:defRPr/>
            </a:pPr>
            <a:r>
              <a:rPr kumimoji="0" lang="zh-CN" altLang="en-US" sz="2000" b="1" i="0" u="none" strike="noStrike" kern="1200" cap="none" spc="0" normalizeH="0" baseline="0" noProof="0" dirty="0">
                <a:ln>
                  <a:noFill/>
                </a:ln>
                <a:solidFill>
                  <a:srgbClr val="C00000"/>
                </a:solidFill>
                <a:effectLst/>
                <a:uLnTx/>
                <a:uFillTx/>
                <a:latin typeface="Arial" panose="02080604020202020204" pitchFamily="34" charset="0"/>
                <a:ea typeface="微软雅黑" panose="020B0503020204020204" pitchFamily="34" charset="-122"/>
                <a:sym typeface="Arial" panose="02080604020202020204" pitchFamily="34" charset="0"/>
              </a:rPr>
              <a:t>考核指标：</a:t>
            </a:r>
            <a:endParaRPr kumimoji="0" lang="zh-CN" altLang="en-US" sz="2000" b="0" i="0" u="none" strike="noStrike" kern="1200" cap="none" spc="0" normalizeH="0" baseline="0" noProof="0" dirty="0">
              <a:ln>
                <a:noFill/>
              </a:ln>
              <a:solidFill>
                <a:prstClr val="black"/>
              </a:solidFill>
              <a:effectLst/>
              <a:uLnTx/>
              <a:uFillTx/>
              <a:latin typeface="Arial" panose="02080604020202020204" pitchFamily="34" charset="0"/>
              <a:ea typeface="微软雅黑" panose="020B0503020204020204" pitchFamily="34" charset="-122"/>
              <a:sym typeface="Arial" panose="02080604020202020204" pitchFamily="34" charset="0"/>
            </a:endParaRPr>
          </a:p>
        </p:txBody>
      </p:sp>
      <p:sp>
        <p:nvSpPr>
          <p:cNvPr id="3" name="文本框 2">
            <a:extLst>
              <a:ext uri="{FF2B5EF4-FFF2-40B4-BE49-F238E27FC236}">
                <a16:creationId xmlns:a16="http://schemas.microsoft.com/office/drawing/2014/main" id="{73489742-B035-4D9A-ABD0-1089C7E1022D}"/>
              </a:ext>
            </a:extLst>
          </p:cNvPr>
          <p:cNvSpPr txBox="1"/>
          <p:nvPr/>
        </p:nvSpPr>
        <p:spPr>
          <a:xfrm>
            <a:off x="553587" y="1557330"/>
            <a:ext cx="11520000" cy="1722716"/>
          </a:xfrm>
          <a:prstGeom prst="rect">
            <a:avLst/>
          </a:prstGeom>
          <a:noFill/>
        </p:spPr>
        <p:txBody>
          <a:bodyPr wrap="square" rtlCol="0">
            <a:spAutoFit/>
          </a:bodyPr>
          <a:lstStyle/>
          <a:p>
            <a:pPr marL="342900" indent="-342900">
              <a:lnSpc>
                <a:spcPct val="170000"/>
              </a:lnSpc>
              <a:spcBef>
                <a:spcPct val="0"/>
              </a:spcBef>
              <a:buFont typeface="Wingdings" panose="05000000000000000000" pitchFamily="2" charset="2"/>
              <a:buChar char="Ø"/>
            </a:pPr>
            <a:r>
              <a:rPr lang="zh-CN" altLang="en-US" sz="2200" dirty="0">
                <a:latin typeface="仿宋" panose="02010609060101010101" pitchFamily="49" charset="-122"/>
                <a:ea typeface="仿宋" panose="02010609060101010101" pitchFamily="49" charset="-122"/>
                <a:sym typeface="微软雅黑" panose="020B0503020204020204" pitchFamily="34" charset="-122"/>
              </a:rPr>
              <a:t>针对具身机器人、无人机等无源端侧设备中类脑芯片支持的神经元与突触规模不足问题，依据大脑活动的</a:t>
            </a:r>
            <a:r>
              <a:rPr lang="zh-CN" altLang="en-US" sz="220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稀疏性原理</a:t>
            </a:r>
            <a:r>
              <a:rPr lang="zh-CN" altLang="en-US" sz="2200" dirty="0">
                <a:latin typeface="仿宋" panose="02010609060101010101" pitchFamily="49" charset="-122"/>
                <a:ea typeface="仿宋" panose="02010609060101010101" pitchFamily="49" charset="-122"/>
                <a:sym typeface="微软雅黑" panose="020B0503020204020204" pitchFamily="34" charset="-122"/>
              </a:rPr>
              <a:t>研究</a:t>
            </a:r>
            <a:r>
              <a:rPr lang="zh-CN" altLang="en-US" sz="220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选择性模拟的新型类脑架构</a:t>
            </a:r>
            <a:r>
              <a:rPr lang="zh-CN" altLang="en-US" sz="2200" dirty="0">
                <a:latin typeface="仿宋" panose="02010609060101010101" pitchFamily="49" charset="-122"/>
                <a:ea typeface="仿宋" panose="02010609060101010101" pitchFamily="49" charset="-122"/>
                <a:sym typeface="微软雅黑" panose="020B0503020204020204" pitchFamily="34" charset="-122"/>
              </a:rPr>
              <a:t>，大幅提升单芯片部署的逻辑神经元与突触数量，从而提高无源端侧设备的脉冲神经网络规模上限</a:t>
            </a:r>
          </a:p>
        </p:txBody>
      </p:sp>
      <p:sp>
        <p:nvSpPr>
          <p:cNvPr id="11" name="文本框 10">
            <a:extLst>
              <a:ext uri="{FF2B5EF4-FFF2-40B4-BE49-F238E27FC236}">
                <a16:creationId xmlns:a16="http://schemas.microsoft.com/office/drawing/2014/main" id="{1BB0961E-AC6E-48B7-B983-6759EC7E0E9E}"/>
              </a:ext>
            </a:extLst>
          </p:cNvPr>
          <p:cNvSpPr txBox="1"/>
          <p:nvPr/>
        </p:nvSpPr>
        <p:spPr>
          <a:xfrm>
            <a:off x="360478" y="4197420"/>
            <a:ext cx="11520000" cy="1022844"/>
          </a:xfrm>
          <a:prstGeom prst="rect">
            <a:avLst/>
          </a:prstGeom>
          <a:noFill/>
        </p:spPr>
        <p:txBody>
          <a:bodyPr wrap="square" rtlCol="0">
            <a:spAutoFit/>
          </a:bodyPr>
          <a:lstStyle/>
          <a:p>
            <a:pPr marL="342900" indent="-342900">
              <a:lnSpc>
                <a:spcPct val="150000"/>
              </a:lnSpc>
              <a:spcBef>
                <a:spcPct val="0"/>
              </a:spcBef>
              <a:buFont typeface="Wingdings" panose="05000000000000000000" pitchFamily="2" charset="2"/>
              <a:buChar char="Ø"/>
            </a:pPr>
            <a:r>
              <a:rPr lang="zh-CN" altLang="en-US" sz="2150" dirty="0">
                <a:latin typeface="仿宋" panose="02010609060101010101" pitchFamily="49" charset="-122"/>
                <a:ea typeface="仿宋" panose="02010609060101010101" pitchFamily="49" charset="-122"/>
                <a:sym typeface="微软雅黑" panose="020B0503020204020204" pitchFamily="34" charset="-122"/>
              </a:rPr>
              <a:t>在同等工艺下，单个动波脉冲类脑架构芯片实现</a:t>
            </a:r>
            <a:r>
              <a:rPr lang="zh-CN" altLang="en-US"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逻辑神经元数量提升</a:t>
            </a:r>
            <a:r>
              <a:rPr lang="en-US" altLang="zh-CN"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20</a:t>
            </a:r>
            <a:r>
              <a:rPr lang="zh-CN" altLang="en-US"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倍</a:t>
            </a:r>
            <a:r>
              <a:rPr lang="zh-CN" altLang="en-US" sz="2150" dirty="0">
                <a:latin typeface="仿宋" panose="02010609060101010101" pitchFamily="49" charset="-122"/>
                <a:ea typeface="仿宋" panose="02010609060101010101" pitchFamily="49" charset="-122"/>
                <a:sym typeface="微软雅黑" panose="020B0503020204020204" pitchFamily="34" charset="-122"/>
              </a:rPr>
              <a:t>，</a:t>
            </a:r>
            <a:r>
              <a:rPr lang="zh-CN" altLang="en-US"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突触数量提升</a:t>
            </a:r>
            <a:r>
              <a:rPr lang="en-US" altLang="zh-CN"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20</a:t>
            </a:r>
            <a:r>
              <a:rPr lang="zh-CN" altLang="en-US" sz="2150" dirty="0">
                <a:solidFill>
                  <a:srgbClr val="FF0000"/>
                </a:solidFill>
                <a:latin typeface="仿宋" panose="02010609060101010101" pitchFamily="49" charset="-122"/>
                <a:ea typeface="仿宋" panose="02010609060101010101" pitchFamily="49" charset="-122"/>
                <a:sym typeface="微软雅黑" panose="020B0503020204020204" pitchFamily="34" charset="-122"/>
              </a:rPr>
              <a:t>倍</a:t>
            </a:r>
            <a:r>
              <a:rPr lang="zh-CN" altLang="en-US" sz="2150" dirty="0">
                <a:latin typeface="仿宋" panose="02010609060101010101" pitchFamily="49" charset="-122"/>
                <a:ea typeface="仿宋" panose="02010609060101010101" pitchFamily="49" charset="-122"/>
                <a:sym typeface="微软雅黑" panose="020B0503020204020204" pitchFamily="34" charset="-122"/>
              </a:rPr>
              <a:t>，支撑大型脉冲神经网络模型在无源端侧设备部署。</a:t>
            </a:r>
            <a:endParaRPr lang="zh-CN" altLang="en-US" sz="21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12790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906A-9DF8-0CA6-C16A-782A898C5AB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F1DADAE-9AD5-4BE7-9209-0EEAEE150023}"/>
              </a:ext>
            </a:extLst>
          </p:cNvPr>
          <p:cNvSpPr/>
          <p:nvPr/>
        </p:nvSpPr>
        <p:spPr>
          <a:xfrm rot="10800000" flipH="1">
            <a:off x="379858" y="980201"/>
            <a:ext cx="9967784" cy="3600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B98BA5F-75CA-424F-BA4E-3FA66F57A6DE}"/>
              </a:ext>
            </a:extLst>
          </p:cNvPr>
          <p:cNvSpPr txBox="1"/>
          <p:nvPr/>
        </p:nvSpPr>
        <p:spPr>
          <a:xfrm>
            <a:off x="380047" y="400050"/>
            <a:ext cx="5933540" cy="523220"/>
          </a:xfrm>
          <a:prstGeom prst="rect">
            <a:avLst/>
          </a:prstGeom>
          <a:noFill/>
        </p:spPr>
        <p:txBody>
          <a:bodyPr wrap="square">
            <a:spAutoFit/>
          </a:bodyPr>
          <a:lstStyle/>
          <a:p>
            <a:pPr algn="l"/>
            <a:r>
              <a:rPr lang="zh-CN" altLang="en-US" sz="2800" b="1" dirty="0">
                <a:solidFill>
                  <a:schemeClr val="tx1">
                    <a:lumMod val="65000"/>
                    <a:lumOff val="35000"/>
                  </a:schemeClr>
                </a:solidFill>
                <a:latin typeface="微软雅黑" panose="020B0503020204020204" charset="-122"/>
                <a:ea typeface="微软雅黑" panose="020B0503020204020204" charset="-122"/>
                <a:cs typeface="阿里巴巴普惠体 Heavy" panose="00020600040101010101" pitchFamily="18" charset="-122"/>
              </a:rPr>
              <a:t>全脑模拟架构 </a:t>
            </a:r>
            <a:r>
              <a:rPr lang="en-US" altLang="zh-CN" sz="2800" b="1" dirty="0">
                <a:solidFill>
                  <a:schemeClr val="tx1">
                    <a:lumMod val="65000"/>
                    <a:lumOff val="35000"/>
                  </a:schemeClr>
                </a:solidFill>
                <a:latin typeface="微软雅黑" panose="020B0503020204020204" charset="-122"/>
                <a:ea typeface="微软雅黑" panose="020B0503020204020204" charset="-122"/>
                <a:cs typeface="阿里巴巴普惠体 Heavy" panose="00020600040101010101" pitchFamily="18" charset="-122"/>
              </a:rPr>
              <a:t>vs. </a:t>
            </a:r>
            <a:r>
              <a:rPr lang="zh-CN" altLang="en-US" sz="2800" b="1" dirty="0">
                <a:solidFill>
                  <a:schemeClr val="tx1">
                    <a:lumMod val="65000"/>
                    <a:lumOff val="35000"/>
                  </a:schemeClr>
                </a:solidFill>
                <a:latin typeface="微软雅黑" panose="020B0503020204020204" charset="-122"/>
                <a:ea typeface="微软雅黑" panose="020B0503020204020204" charset="-122"/>
                <a:cs typeface="阿里巴巴普惠体 Heavy" panose="00020600040101010101" pitchFamily="18" charset="-122"/>
              </a:rPr>
              <a:t>选择性模拟架构</a:t>
            </a:r>
          </a:p>
        </p:txBody>
      </p:sp>
      <p:graphicFrame>
        <p:nvGraphicFramePr>
          <p:cNvPr id="1351" name="表格 1350">
            <a:extLst>
              <a:ext uri="{FF2B5EF4-FFF2-40B4-BE49-F238E27FC236}">
                <a16:creationId xmlns:a16="http://schemas.microsoft.com/office/drawing/2014/main" id="{8D143A64-44D6-20A5-A610-B146C9BBAF38}"/>
              </a:ext>
            </a:extLst>
          </p:cNvPr>
          <p:cNvGraphicFramePr/>
          <p:nvPr>
            <p:extLst>
              <p:ext uri="{D42A27DB-BD31-4B8C-83A1-F6EECF244321}">
                <p14:modId xmlns:p14="http://schemas.microsoft.com/office/powerpoint/2010/main" val="3991220185"/>
              </p:ext>
            </p:extLst>
          </p:nvPr>
        </p:nvGraphicFramePr>
        <p:xfrm>
          <a:off x="913587" y="2565000"/>
          <a:ext cx="9675697" cy="2333755"/>
        </p:xfrm>
        <a:graphic>
          <a:graphicData uri="http://schemas.openxmlformats.org/drawingml/2006/table">
            <a:tbl>
              <a:tblPr firstRow="1" bandRow="1">
                <a:tableStyleId>{5C22544A-7EE6-4342-B048-85BDC9FD1C3A}</a:tableStyleId>
              </a:tblPr>
              <a:tblGrid>
                <a:gridCol w="1687234">
                  <a:extLst>
                    <a:ext uri="{9D8B030D-6E8A-4147-A177-3AD203B41FA5}">
                      <a16:colId xmlns:a16="http://schemas.microsoft.com/office/drawing/2014/main" val="20000"/>
                    </a:ext>
                  </a:extLst>
                </a:gridCol>
                <a:gridCol w="2016000">
                  <a:extLst>
                    <a:ext uri="{9D8B030D-6E8A-4147-A177-3AD203B41FA5}">
                      <a16:colId xmlns:a16="http://schemas.microsoft.com/office/drawing/2014/main" val="20001"/>
                    </a:ext>
                  </a:extLst>
                </a:gridCol>
                <a:gridCol w="2777597">
                  <a:extLst>
                    <a:ext uri="{9D8B030D-6E8A-4147-A177-3AD203B41FA5}">
                      <a16:colId xmlns:a16="http://schemas.microsoft.com/office/drawing/2014/main" val="20002"/>
                    </a:ext>
                  </a:extLst>
                </a:gridCol>
                <a:gridCol w="1725228">
                  <a:extLst>
                    <a:ext uri="{9D8B030D-6E8A-4147-A177-3AD203B41FA5}">
                      <a16:colId xmlns:a16="http://schemas.microsoft.com/office/drawing/2014/main" val="1810766230"/>
                    </a:ext>
                  </a:extLst>
                </a:gridCol>
                <a:gridCol w="1469638">
                  <a:extLst>
                    <a:ext uri="{9D8B030D-6E8A-4147-A177-3AD203B41FA5}">
                      <a16:colId xmlns:a16="http://schemas.microsoft.com/office/drawing/2014/main" val="2954235646"/>
                    </a:ext>
                  </a:extLst>
                </a:gridCol>
              </a:tblGrid>
              <a:tr h="372559">
                <a:tc>
                  <a:txBody>
                    <a:bodyPr/>
                    <a:lstStyle/>
                    <a:p>
                      <a:pPr algn="ctr">
                        <a:buNone/>
                      </a:pPr>
                      <a:endParaRPr lang="zh-CN" altLang="en-US" sz="1600" dirty="0">
                        <a:solidFill>
                          <a:schemeClr val="tx1"/>
                        </a:solidFill>
                        <a:latin typeface="微软雅黑" panose="020B0503020204020204" pitchFamily="34" charset="-122"/>
                        <a:ea typeface="微软雅黑" panose="020B0503020204020204" pitchFamily="34" charset="-122"/>
                      </a:endParaRPr>
                    </a:p>
                  </a:txBody>
                  <a:tcPr anchor="ctr">
                    <a:solidFill>
                      <a:schemeClr val="bg1">
                        <a:lumMod val="75000"/>
                      </a:schemeClr>
                    </a:solidFill>
                  </a:tcPr>
                </a:tc>
                <a:tc>
                  <a:txBody>
                    <a:bodyPr/>
                    <a:lstStyle/>
                    <a:p>
                      <a:pPr algn="ctr">
                        <a:buNone/>
                      </a:pPr>
                      <a:r>
                        <a:rPr lang="zh-CN" altLang="en-US" sz="1600" dirty="0">
                          <a:solidFill>
                            <a:schemeClr val="tx1"/>
                          </a:solidFill>
                          <a:latin typeface="微软雅黑" panose="020B0503020204020204" pitchFamily="34" charset="-122"/>
                          <a:ea typeface="微软雅黑" panose="020B0503020204020204" pitchFamily="34" charset="-122"/>
                        </a:rPr>
                        <a:t>传统类脑架构</a:t>
                      </a:r>
                    </a:p>
                  </a:txBody>
                  <a:tcPr anchor="ctr">
                    <a:solidFill>
                      <a:schemeClr val="bg1">
                        <a:lumMod val="75000"/>
                      </a:schemeClr>
                    </a:solidFill>
                  </a:tcPr>
                </a:tc>
                <a:tc>
                  <a:txBody>
                    <a:bodyPr/>
                    <a:lstStyle/>
                    <a:p>
                      <a:pPr algn="ctr">
                        <a:buNone/>
                      </a:pPr>
                      <a:r>
                        <a:rPr lang="zh-CN" altLang="en-US" sz="1600" dirty="0">
                          <a:solidFill>
                            <a:schemeClr val="tx1"/>
                          </a:solidFill>
                          <a:latin typeface="微软雅黑" panose="020B0503020204020204" pitchFamily="34" charset="-122"/>
                          <a:ea typeface="微软雅黑" panose="020B0503020204020204" pitchFamily="34" charset="-122"/>
                        </a:rPr>
                        <a:t>选择性模拟架构</a:t>
                      </a:r>
                    </a:p>
                  </a:txBody>
                  <a:tcPr anchor="ctr">
                    <a:solidFill>
                      <a:schemeClr val="bg1">
                        <a:lumMod val="75000"/>
                      </a:schemeClr>
                    </a:solidFill>
                  </a:tcPr>
                </a:tc>
                <a:tc>
                  <a:txBody>
                    <a:bodyPr/>
                    <a:lstStyle/>
                    <a:p>
                      <a:pPr algn="ctr">
                        <a:buNone/>
                      </a:pPr>
                      <a:r>
                        <a:rPr lang="zh-CN" altLang="en-US" sz="1600" dirty="0">
                          <a:solidFill>
                            <a:schemeClr val="tx1"/>
                          </a:solidFill>
                          <a:latin typeface="微软雅黑" panose="020B0503020204020204" pitchFamily="34" charset="-122"/>
                          <a:ea typeface="微软雅黑" panose="020B0503020204020204" pitchFamily="34" charset="-122"/>
                        </a:rPr>
                        <a:t>小鼠脑皮层</a:t>
                      </a:r>
                    </a:p>
                  </a:txBody>
                  <a:tcPr anchor="ctr">
                    <a:solidFill>
                      <a:schemeClr val="bg1">
                        <a:lumMod val="75000"/>
                      </a:schemeClr>
                    </a:solidFill>
                  </a:tcPr>
                </a:tc>
                <a:tc>
                  <a:txBody>
                    <a:bodyPr/>
                    <a:lstStyle/>
                    <a:p>
                      <a:pPr algn="ctr">
                        <a:buNone/>
                      </a:pPr>
                      <a:r>
                        <a:rPr lang="zh-CN" altLang="en-US" sz="1600" dirty="0">
                          <a:solidFill>
                            <a:schemeClr val="tx1"/>
                          </a:solidFill>
                          <a:latin typeface="微软雅黑" panose="020B0503020204020204" pitchFamily="34" charset="-122"/>
                          <a:ea typeface="微软雅黑" panose="020B0503020204020204" pitchFamily="34" charset="-122"/>
                        </a:rPr>
                        <a:t>人脑皮层</a:t>
                      </a:r>
                    </a:p>
                  </a:txBody>
                  <a:tcPr anchor="ctr">
                    <a:solidFill>
                      <a:schemeClr val="bg1">
                        <a:lumMod val="75000"/>
                      </a:schemeClr>
                    </a:solidFill>
                  </a:tcPr>
                </a:tc>
                <a:extLst>
                  <a:ext uri="{0D108BD9-81ED-4DB2-BD59-A6C34878D82A}">
                    <a16:rowId xmlns:a16="http://schemas.microsoft.com/office/drawing/2014/main" val="10000"/>
                  </a:ext>
                </a:extLst>
              </a:tr>
              <a:tr h="338690">
                <a:tc>
                  <a:txBody>
                    <a:bodyPr/>
                    <a:lstStyle/>
                    <a:p>
                      <a:pPr indent="0" fontAlgn="ctr">
                        <a:buNone/>
                      </a:pPr>
                      <a:r>
                        <a:rPr lang="zh-CN" altLang="en-US" sz="1400" b="1" dirty="0">
                          <a:latin typeface="微软雅黑" panose="020B0503020204020204" pitchFamily="34" charset="-122"/>
                          <a:ea typeface="微软雅黑" panose="020B0503020204020204" pitchFamily="34" charset="-122"/>
                        </a:rPr>
                        <a:t>运行方式</a:t>
                      </a:r>
                    </a:p>
                  </a:txBody>
                  <a:tcPr anchor="ctr">
                    <a:solidFill>
                      <a:schemeClr val="bg1">
                        <a:lumMod val="95000"/>
                      </a:schemeClr>
                    </a:solidFill>
                  </a:tcPr>
                </a:tc>
                <a:tc>
                  <a:txBody>
                    <a:bodyPr/>
                    <a:lstStyle/>
                    <a:p>
                      <a:pPr indent="0" fontAlgn="ctr">
                        <a:buNone/>
                      </a:pPr>
                      <a:r>
                        <a:rPr lang="zh-CN" altLang="en-US" sz="1400" dirty="0">
                          <a:latin typeface="微软雅黑" panose="020B0503020204020204" pitchFamily="34" charset="-122"/>
                          <a:ea typeface="微软雅黑" panose="020B0503020204020204" pitchFamily="34" charset="-122"/>
                        </a:rPr>
                        <a:t>神经元全集模拟</a:t>
                      </a:r>
                    </a:p>
                  </a:txBody>
                  <a:tcPr anchor="ctr">
                    <a:solidFill>
                      <a:schemeClr val="bg1">
                        <a:lumMod val="95000"/>
                      </a:schemeClr>
                    </a:solidFill>
                  </a:tcPr>
                </a:tc>
                <a:tc>
                  <a:txBody>
                    <a:bodyPr/>
                    <a:lstStyle/>
                    <a:p>
                      <a:pPr indent="0" fontAlgn="ctr">
                        <a:buNone/>
                      </a:pPr>
                      <a:r>
                        <a:rPr lang="zh-CN" altLang="en-US" sz="1400" dirty="0">
                          <a:latin typeface="微软雅黑" panose="020B0503020204020204" pitchFamily="34" charset="-122"/>
                          <a:ea typeface="微软雅黑" panose="020B0503020204020204" pitchFamily="34" charset="-122"/>
                        </a:rPr>
                        <a:t>活跃神经元分时模拟</a:t>
                      </a:r>
                      <a:endParaRPr lang="en-US" altLang="zh-CN" sz="1400" dirty="0">
                        <a:latin typeface="微软雅黑" panose="020B0503020204020204" pitchFamily="34" charset="-122"/>
                        <a:ea typeface="微软雅黑" panose="020B0503020204020204" pitchFamily="34" charset="-122"/>
                      </a:endParaRPr>
                    </a:p>
                    <a:p>
                      <a:pPr indent="0" fontAlgn="ctr">
                        <a:buNone/>
                      </a:pPr>
                      <a:r>
                        <a:rPr lang="zh-CN" altLang="en-US" sz="1400" dirty="0">
                          <a:latin typeface="微软雅黑" panose="020B0503020204020204" pitchFamily="34" charset="-122"/>
                          <a:ea typeface="微软雅黑" panose="020B0503020204020204" pitchFamily="34" charset="-122"/>
                        </a:rPr>
                        <a:t>（暗神经元占比</a:t>
                      </a:r>
                      <a:r>
                        <a:rPr lang="en-US" altLang="zh-CN" sz="1400" dirty="0">
                          <a:latin typeface="微软雅黑" panose="020B0503020204020204" pitchFamily="34" charset="-122"/>
                          <a:ea typeface="微软雅黑" panose="020B0503020204020204" pitchFamily="34" charset="-122"/>
                        </a:rPr>
                        <a:t>95%</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txBody>
                  <a:tcPr anchor="ctr">
                    <a:solidFill>
                      <a:schemeClr val="bg1">
                        <a:lumMod val="95000"/>
                      </a:schemeClr>
                    </a:solidFill>
                  </a:tcPr>
                </a:tc>
                <a:tc>
                  <a:txBody>
                    <a:bodyPr/>
                    <a:lstStyle/>
                    <a:p>
                      <a:pPr indent="0" fontAlgn="ctr">
                        <a:buNone/>
                      </a:pPr>
                      <a:endParaRPr lang="en-US" altLang="zh-CN" sz="1400" dirty="0">
                        <a:latin typeface="微软雅黑" panose="020B0503020204020204" pitchFamily="34" charset="-122"/>
                        <a:ea typeface="微软雅黑" panose="020B0503020204020204" pitchFamily="34" charset="-122"/>
                      </a:endParaRPr>
                    </a:p>
                  </a:txBody>
                  <a:tcPr anchor="ctr">
                    <a:solidFill>
                      <a:schemeClr val="bg1">
                        <a:lumMod val="95000"/>
                      </a:schemeClr>
                    </a:solidFill>
                  </a:tcPr>
                </a:tc>
                <a:tc>
                  <a:txBody>
                    <a:bodyPr/>
                    <a:lstStyle/>
                    <a:p>
                      <a:pPr indent="0" fontAlgn="ctr">
                        <a:buNone/>
                      </a:pPr>
                      <a:endParaRPr lang="en-US" altLang="zh-CN" sz="1400" dirty="0">
                        <a:latin typeface="微软雅黑" panose="020B0503020204020204" pitchFamily="34" charset="-122"/>
                        <a:ea typeface="微软雅黑" panose="020B0503020204020204" pitchFamily="34" charset="-122"/>
                      </a:endParaRPr>
                    </a:p>
                  </a:txBody>
                  <a:tcPr anchor="ctr">
                    <a:solidFill>
                      <a:schemeClr val="bg1">
                        <a:lumMod val="95000"/>
                      </a:schemeClr>
                    </a:solidFill>
                  </a:tcPr>
                </a:tc>
                <a:extLst>
                  <a:ext uri="{0D108BD9-81ED-4DB2-BD59-A6C34878D82A}">
                    <a16:rowId xmlns:a16="http://schemas.microsoft.com/office/drawing/2014/main" val="2997072944"/>
                  </a:ext>
                </a:extLst>
              </a:tr>
              <a:tr h="360759">
                <a:tc>
                  <a:txBody>
                    <a:bodyPr/>
                    <a:lstStyle/>
                    <a:p>
                      <a:pPr marL="0" indent="0" algn="l" defTabSz="914400" rtl="0" eaLnBrk="1" fontAlgn="ctr" latinLnBrk="0" hangingPunct="1">
                        <a:buNone/>
                      </a:pPr>
                      <a:r>
                        <a:rPr lang="zh-CN" altLang="en-US" sz="1400" b="1" kern="1200" dirty="0">
                          <a:solidFill>
                            <a:schemeClr val="dk1"/>
                          </a:solidFill>
                          <a:latin typeface="微软雅黑" panose="020B0503020204020204" pitchFamily="34" charset="-122"/>
                          <a:ea typeface="微软雅黑" panose="020B0503020204020204" pitchFamily="34" charset="-122"/>
                          <a:cs typeface="+mn-cs"/>
                        </a:rPr>
                        <a:t>单芯片神经元数量</a:t>
                      </a: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100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万级</a:t>
                      </a: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2000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万级</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1400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万</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160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亿</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extLst>
                  <a:ext uri="{0D108BD9-81ED-4DB2-BD59-A6C34878D82A}">
                    <a16:rowId xmlns:a16="http://schemas.microsoft.com/office/drawing/2014/main" val="4080349026"/>
                  </a:ext>
                </a:extLst>
              </a:tr>
              <a:tr h="36075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en-US" sz="1400" b="1" kern="1200" dirty="0">
                          <a:solidFill>
                            <a:schemeClr val="dk1"/>
                          </a:solidFill>
                          <a:latin typeface="微软雅黑" panose="020B0503020204020204" pitchFamily="34" charset="-122"/>
                          <a:ea typeface="微软雅黑" panose="020B0503020204020204" pitchFamily="34" charset="-122"/>
                          <a:cs typeface="+mn-cs"/>
                        </a:rPr>
                        <a:t>单芯片突触数量</a:t>
                      </a: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亿级</a:t>
                      </a: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20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亿级</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1000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亿</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100</a:t>
                      </a:r>
                      <a:r>
                        <a:rPr lang="zh-CN" altLang="en-US" sz="1400" b="0" kern="1200" dirty="0">
                          <a:solidFill>
                            <a:schemeClr val="dk1"/>
                          </a:solidFill>
                          <a:latin typeface="微软雅黑" panose="020B0503020204020204" pitchFamily="34" charset="-122"/>
                          <a:ea typeface="微软雅黑" panose="020B0503020204020204" pitchFamily="34" charset="-122"/>
                          <a:cs typeface="+mn-cs"/>
                        </a:rPr>
                        <a:t>万亿</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extLst>
                  <a:ext uri="{0D108BD9-81ED-4DB2-BD59-A6C34878D82A}">
                    <a16:rowId xmlns:a16="http://schemas.microsoft.com/office/drawing/2014/main" val="2126631818"/>
                  </a:ext>
                </a:extLst>
              </a:tr>
              <a:tr h="360759">
                <a:tc>
                  <a:txBody>
                    <a:bodyPr/>
                    <a:lstStyle/>
                    <a:p>
                      <a:pPr marL="0" indent="0" algn="l" defTabSz="914400" rtl="0" eaLnBrk="1" fontAlgn="ctr" latinLnBrk="0" hangingPunct="1">
                        <a:buNone/>
                      </a:pPr>
                      <a:r>
                        <a:rPr lang="zh-CN" altLang="en-US" sz="1400" b="1" kern="1200" dirty="0">
                          <a:solidFill>
                            <a:schemeClr val="dk1"/>
                          </a:solidFill>
                          <a:latin typeface="微软雅黑" panose="020B0503020204020204" pitchFamily="34" charset="-122"/>
                          <a:ea typeface="微软雅黑" panose="020B0503020204020204" pitchFamily="34" charset="-122"/>
                          <a:cs typeface="+mn-cs"/>
                        </a:rPr>
                        <a:t>实时性</a:t>
                      </a:r>
                    </a:p>
                  </a:txBody>
                  <a:tcPr anchor="ctr">
                    <a:solidFill>
                      <a:schemeClr val="bg1"/>
                    </a:solidFill>
                  </a:tcPr>
                </a:tc>
                <a:tc>
                  <a:txBody>
                    <a:bodyPr/>
                    <a:lstStyle/>
                    <a:p>
                      <a:pPr marL="0" indent="0" algn="l" defTabSz="914400" rtl="0" eaLnBrk="1" fontAlgn="ctr" latinLnBrk="0" hangingPunct="1">
                        <a:buNone/>
                      </a:pPr>
                      <a:r>
                        <a:rPr lang="zh-CN" altLang="en-US" sz="1400" b="0" kern="1200" dirty="0">
                          <a:solidFill>
                            <a:schemeClr val="dk1"/>
                          </a:solidFill>
                          <a:latin typeface="微软雅黑" panose="020B0503020204020204" pitchFamily="34" charset="-122"/>
                          <a:ea typeface="微软雅黑" panose="020B0503020204020204" pitchFamily="34" charset="-122"/>
                          <a:cs typeface="+mn-cs"/>
                        </a:rPr>
                        <a:t>低</a:t>
                      </a:r>
                    </a:p>
                  </a:txBody>
                  <a:tcPr anchor="ctr">
                    <a:solidFill>
                      <a:schemeClr val="bg1"/>
                    </a:solidFill>
                  </a:tcPr>
                </a:tc>
                <a:tc>
                  <a:txBody>
                    <a:bodyPr/>
                    <a:lstStyle/>
                    <a:p>
                      <a:pPr marL="0" indent="0" algn="l" defTabSz="914400" rtl="0" eaLnBrk="1" fontAlgn="ctr" latinLnBrk="0" hangingPunct="1">
                        <a:buNone/>
                      </a:pPr>
                      <a:r>
                        <a:rPr lang="zh-CN" altLang="en-US" sz="1400" b="0" kern="1200" dirty="0">
                          <a:solidFill>
                            <a:schemeClr val="dk1"/>
                          </a:solidFill>
                          <a:latin typeface="微软雅黑" panose="020B0503020204020204" pitchFamily="34" charset="-122"/>
                          <a:ea typeface="微软雅黑" panose="020B0503020204020204" pitchFamily="34" charset="-122"/>
                          <a:cs typeface="+mn-cs"/>
                        </a:rPr>
                        <a:t>高</a:t>
                      </a: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extLst>
                  <a:ext uri="{0D108BD9-81ED-4DB2-BD59-A6C34878D82A}">
                    <a16:rowId xmlns:a16="http://schemas.microsoft.com/office/drawing/2014/main" val="4123242174"/>
                  </a:ext>
                </a:extLst>
              </a:tr>
              <a:tr h="360759">
                <a:tc>
                  <a:txBody>
                    <a:bodyPr/>
                    <a:lstStyle/>
                    <a:p>
                      <a:pPr marL="0" indent="0" algn="l" defTabSz="914400" rtl="0" eaLnBrk="1" fontAlgn="ctr" latinLnBrk="0" hangingPunct="1">
                        <a:buNone/>
                      </a:pPr>
                      <a:r>
                        <a:rPr lang="zh-CN" altLang="en-US" sz="1400" b="1" kern="1200" dirty="0">
                          <a:solidFill>
                            <a:schemeClr val="dk1"/>
                          </a:solidFill>
                          <a:latin typeface="微软雅黑" panose="020B0503020204020204" pitchFamily="34" charset="-122"/>
                          <a:ea typeface="微软雅黑" panose="020B0503020204020204" pitchFamily="34" charset="-122"/>
                          <a:cs typeface="+mn-cs"/>
                        </a:rPr>
                        <a:t>适合单人无源装备</a:t>
                      </a: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No</a:t>
                      </a:r>
                      <a:endParaRPr lang="zh-CN" altLang="en-US"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r>
                        <a:rPr lang="en-US" altLang="zh-CN" sz="1400" b="0" kern="1200" dirty="0">
                          <a:solidFill>
                            <a:schemeClr val="dk1"/>
                          </a:solidFill>
                          <a:latin typeface="微软雅黑" panose="020B0503020204020204" pitchFamily="34" charset="-122"/>
                          <a:ea typeface="微软雅黑" panose="020B0503020204020204" pitchFamily="34" charset="-122"/>
                          <a:cs typeface="+mn-cs"/>
                        </a:rPr>
                        <a:t>Yes</a:t>
                      </a:r>
                    </a:p>
                  </a:txBody>
                  <a:tcPr anchor="ctr">
                    <a:solidFill>
                      <a:schemeClr val="bg1"/>
                    </a:solidFill>
                  </a:tcPr>
                </a:tc>
                <a:tc>
                  <a:txBody>
                    <a:bodyPr/>
                    <a:lstStyle/>
                    <a:p>
                      <a:pPr marL="0" indent="0" algn="l" defTabSz="914400" rtl="0" eaLnBrk="1" fontAlgn="ctr" latinLnBrk="0" hangingPunct="1">
                        <a:buNone/>
                      </a:pP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tc>
                  <a:txBody>
                    <a:bodyPr/>
                    <a:lstStyle/>
                    <a:p>
                      <a:pPr marL="0" indent="0" algn="l" defTabSz="914400" rtl="0" eaLnBrk="1" fontAlgn="ctr" latinLnBrk="0" hangingPunct="1">
                        <a:buNone/>
                      </a:pPr>
                      <a:endParaRPr lang="en-US" altLang="zh-CN" sz="1400" b="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chemeClr val="bg1"/>
                    </a:solidFill>
                  </a:tcPr>
                </a:tc>
                <a:extLst>
                  <a:ext uri="{0D108BD9-81ED-4DB2-BD59-A6C34878D82A}">
                    <a16:rowId xmlns:a16="http://schemas.microsoft.com/office/drawing/2014/main" val="244407040"/>
                  </a:ext>
                </a:extLst>
              </a:tr>
            </a:tbl>
          </a:graphicData>
        </a:graphic>
      </p:graphicFrame>
      <p:pic>
        <p:nvPicPr>
          <p:cNvPr id="1368" name="Picture 4" descr="Image result for yes no">
            <a:extLst>
              <a:ext uri="{FF2B5EF4-FFF2-40B4-BE49-F238E27FC236}">
                <a16:creationId xmlns:a16="http://schemas.microsoft.com/office/drawing/2014/main" id="{1AC52D0A-BE92-03B4-318C-AB5D8543729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650" t="59352" r="56244" b="6944"/>
          <a:stretch/>
        </p:blipFill>
        <p:spPr bwMode="auto">
          <a:xfrm>
            <a:off x="6955610" y="2927265"/>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69" name="Picture 4" descr="Image result for yes no">
            <a:extLst>
              <a:ext uri="{FF2B5EF4-FFF2-40B4-BE49-F238E27FC236}">
                <a16:creationId xmlns:a16="http://schemas.microsoft.com/office/drawing/2014/main" id="{3A12CC85-4A2C-26CD-BCAE-8BBCA8FD6FC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34" t="59352" r="10460" b="6944"/>
          <a:stretch/>
        </p:blipFill>
        <p:spPr bwMode="auto">
          <a:xfrm>
            <a:off x="4208698" y="2927265"/>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0" name="Picture 4" descr="Image result for yes no">
            <a:extLst>
              <a:ext uri="{FF2B5EF4-FFF2-40B4-BE49-F238E27FC236}">
                <a16:creationId xmlns:a16="http://schemas.microsoft.com/office/drawing/2014/main" id="{927F4A19-EAF1-DF4D-7025-F0ACFD0AE50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650" t="59352" r="56244" b="6944"/>
          <a:stretch/>
        </p:blipFill>
        <p:spPr bwMode="auto">
          <a:xfrm>
            <a:off x="6955610" y="3308265"/>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1" name="Picture 4" descr="Image result for yes no">
            <a:extLst>
              <a:ext uri="{FF2B5EF4-FFF2-40B4-BE49-F238E27FC236}">
                <a16:creationId xmlns:a16="http://schemas.microsoft.com/office/drawing/2014/main" id="{71E0DA46-62B9-890A-317C-905332B2DCC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34" t="59352" r="10460" b="6944"/>
          <a:stretch/>
        </p:blipFill>
        <p:spPr bwMode="auto">
          <a:xfrm>
            <a:off x="4208698" y="3308265"/>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2" name="Picture 4" descr="Image result for yes no">
            <a:extLst>
              <a:ext uri="{FF2B5EF4-FFF2-40B4-BE49-F238E27FC236}">
                <a16:creationId xmlns:a16="http://schemas.microsoft.com/office/drawing/2014/main" id="{5FB144B7-E2B6-B262-9D12-91BDAA68722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650" t="59352" r="56244" b="6944"/>
          <a:stretch/>
        </p:blipFill>
        <p:spPr bwMode="auto">
          <a:xfrm>
            <a:off x="6955610" y="3699598"/>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3" name="Picture 4" descr="Image result for yes no">
            <a:extLst>
              <a:ext uri="{FF2B5EF4-FFF2-40B4-BE49-F238E27FC236}">
                <a16:creationId xmlns:a16="http://schemas.microsoft.com/office/drawing/2014/main" id="{2651FCCC-5DB4-A8C8-AEE1-4BC02412D11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34" t="59352" r="10460" b="6944"/>
          <a:stretch/>
        </p:blipFill>
        <p:spPr bwMode="auto">
          <a:xfrm>
            <a:off x="4208698" y="3699598"/>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4" name="Picture 4" descr="Image result for yes no">
            <a:extLst>
              <a:ext uri="{FF2B5EF4-FFF2-40B4-BE49-F238E27FC236}">
                <a16:creationId xmlns:a16="http://schemas.microsoft.com/office/drawing/2014/main" id="{1C18F75B-BF4A-58D9-42C2-4BD60758229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650" t="59352" r="56244" b="6944"/>
          <a:stretch/>
        </p:blipFill>
        <p:spPr bwMode="auto">
          <a:xfrm>
            <a:off x="6955610" y="4052179"/>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5" name="Picture 4" descr="Image result for yes no">
            <a:extLst>
              <a:ext uri="{FF2B5EF4-FFF2-40B4-BE49-F238E27FC236}">
                <a16:creationId xmlns:a16="http://schemas.microsoft.com/office/drawing/2014/main" id="{D0418C4B-6332-6D2F-E012-B9BA9189A23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34" t="59352" r="10460" b="6944"/>
          <a:stretch/>
        </p:blipFill>
        <p:spPr bwMode="auto">
          <a:xfrm>
            <a:off x="4208698" y="4052179"/>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7" name="Picture 4" descr="Image result for yes no">
            <a:extLst>
              <a:ext uri="{FF2B5EF4-FFF2-40B4-BE49-F238E27FC236}">
                <a16:creationId xmlns:a16="http://schemas.microsoft.com/office/drawing/2014/main" id="{F52BF043-C9F4-5503-3020-26371B6FC82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650" t="59352" r="56244" b="6944"/>
          <a:stretch/>
        </p:blipFill>
        <p:spPr bwMode="auto">
          <a:xfrm>
            <a:off x="6955610" y="4409937"/>
            <a:ext cx="345193" cy="332786"/>
          </a:xfrm>
          <a:prstGeom prst="rect">
            <a:avLst/>
          </a:prstGeom>
          <a:noFill/>
          <a:extLst>
            <a:ext uri="{909E8E84-426E-40DD-AFC4-6F175D3DCCD1}">
              <a14:hiddenFill xmlns:a14="http://schemas.microsoft.com/office/drawing/2010/main">
                <a:solidFill>
                  <a:srgbClr val="FFFFFF"/>
                </a:solidFill>
              </a14:hiddenFill>
            </a:ext>
          </a:extLst>
        </p:spPr>
      </p:pic>
      <p:pic>
        <p:nvPicPr>
          <p:cNvPr id="1378" name="Picture 4" descr="Image result for yes no">
            <a:extLst>
              <a:ext uri="{FF2B5EF4-FFF2-40B4-BE49-F238E27FC236}">
                <a16:creationId xmlns:a16="http://schemas.microsoft.com/office/drawing/2014/main" id="{79DEB856-CC57-8F86-8DB2-8EC7F72EE6C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434" t="59352" r="10460" b="6944"/>
          <a:stretch/>
        </p:blipFill>
        <p:spPr bwMode="auto">
          <a:xfrm>
            <a:off x="4208698" y="4409937"/>
            <a:ext cx="345193" cy="332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7401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85D8A"/>
        </a:solidFill>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spPr>
      <a:bodyPr wrap="square" rtlCol="0">
        <a:spAutoFit/>
      </a:bodyPr>
      <a:lstStyle>
        <a:defPPr>
          <a:lnSpc>
            <a:spcPct val="130000"/>
          </a:lnSpc>
          <a:spcBef>
            <a:spcPct val="0"/>
          </a:spcBef>
          <a:defRPr lang="zh-CN" altLang="en-US" sz="240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6828</TotalTime>
  <Words>457</Words>
  <Application>Microsoft Office PowerPoint</Application>
  <PresentationFormat>自定义</PresentationFormat>
  <Paragraphs>46</Paragraphs>
  <Slides>3</Slides>
  <Notes>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vt:i4>
      </vt:variant>
    </vt:vector>
  </HeadingPairs>
  <TitlesOfParts>
    <vt:vector size="13" baseType="lpstr">
      <vt:lpstr>DejaVu Sans</vt:lpstr>
      <vt:lpstr>仿宋</vt:lpstr>
      <vt:lpstr>微软雅黑</vt:lpstr>
      <vt:lpstr>Arial</vt:lpstr>
      <vt:lpstr>Calibri</vt:lpstr>
      <vt:lpstr>Calibri Light</vt:lpstr>
      <vt:lpstr>Times New Roman</vt:lpstr>
      <vt:lpstr>Wingdings</vt:lpstr>
      <vt:lpstr>Office 主题​​</vt:lpstr>
      <vt:lpstr>Office Theme</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Fengzhe Zhang</cp:lastModifiedBy>
  <cp:revision>2581</cp:revision>
  <dcterms:created xsi:type="dcterms:W3CDTF">2025-11-07T01:20:02Z</dcterms:created>
  <dcterms:modified xsi:type="dcterms:W3CDTF">2026-03-24T12:03:49Z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2052-11.8.2.10505</vt:lpwstr>
  </property>
  <property fmtid="{D5CDD505-2E9C-101B-9397-08002B2CF9AE}" pid="3" name="ICV">
    <vt:lpwstr>8954FEDA9C14E1EA6DBCDE66571C5285</vt:lpwstr>
  </property>
</Properties>
</file>