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物理涌现智能与复杂网络学科方向规划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2800" b="1">
                <a:solidFill>
                  <a:srgbClr val="0066CC"/>
                </a:solidFill>
                <a:latin typeface="Microsoft YaHei"/>
              </a:defRPr>
            </a:pPr>
            <a:r>
              <a:t>（2026-2035）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0066CC"/>
                </a:solidFill>
                <a:latin typeface="Microsoft YaHei"/>
              </a:defRPr>
            </a:pPr>
            <a:r>
              <a:t>iNEST研究组</a:t>
            </a:r>
            <a:br/>
            <a:r>
              <a:t>复旦大学 • NDSC • 天津大学 联合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808080"/>
                </a:solidFill>
                <a:latin typeface="Microsoft YaHei"/>
              </a:defRPr>
            </a:pPr>
            <a:r>
              <a:t>2024年12月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核心定位与目标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200400" cy="18288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2834640" cy="1463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物理系统智能涌现</a:t>
            </a:r>
            <a:br/>
            <a:r>
              <a:t>• SDSoW架构设计</a:t>
            </a:r>
            <a:br/>
            <a:r>
              <a:t>• 忆阻器网络拓扑</a:t>
            </a:r>
            <a:br/>
            <a:r>
              <a:t>• 涌现临界现象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828800"/>
            <a:ext cx="3200400" cy="18288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0" y="2011680"/>
            <a:ext cx="2834640" cy="1463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软件定义物理网络</a:t>
            </a:r>
            <a:br/>
            <a:r>
              <a:t>• SDI智能架构</a:t>
            </a:r>
            <a:br/>
            <a:r>
              <a:t>• 拓扑-功能映射</a:t>
            </a:r>
            <a:br/>
            <a:r>
              <a:t>• 可重构计算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200400" cy="18288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2011680"/>
            <a:ext cx="2834640" cy="14630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物理智能系统工程</a:t>
            </a:r>
            <a:br/>
            <a:r>
              <a:t>• 多芯粒集成</a:t>
            </a:r>
            <a:br/>
            <a:r>
              <a:t>• 热管理设计</a:t>
            </a:r>
            <a:br/>
            <a:r>
              <a:t>• 1000节点原型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愿景：构建物理涌现智能与复杂网络交叉学科，突破传统计算架构限制，</a:t>
            </a:r>
            <a:br/>
            <a:r>
              <a:t>实现从器件、网络到系统的全链条智能涌现机理与工程化技术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三个二级学科方向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474720" cy="41148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方向一：物理系统智能涌现机理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5603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复旦大学（理论与材料）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忆阻器材料非线性动力学</a:t>
            </a:r>
            <a:br/>
            <a:r>
              <a:t>• 二维材料网络拓扑设计</a:t>
            </a:r>
            <a:br/>
            <a:r>
              <a:t>• 涌现临界现象理论建模</a:t>
            </a:r>
            <a:br/>
            <a:r>
              <a:t>• 多尺度协同机制解析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3035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目标：PRL×2, PNAS×1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41148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26280" y="178308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方向二：软件定义物理网络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5603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NDSC（架构与算法）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0175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SDSoW架构设计与优化</a:t>
            </a:r>
            <a:br/>
            <a:r>
              <a:t>• 拓扑-功能映射准则</a:t>
            </a:r>
            <a:br/>
            <a:r>
              <a:t>• SDI智能计算范式</a:t>
            </a:r>
            <a:br/>
            <a:r>
              <a:t>• 可重构网络协议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3035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目标：Nature Electronics×1, ISSCC×3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41148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78308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方向三：物理智能系统工程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5603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天津大学（工程与集成）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30175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忆阻器芯粒设计制造</a:t>
            </a:r>
            <a:br/>
            <a:r>
              <a:t>• 晶圆级热管理方案</a:t>
            </a:r>
            <a:br/>
            <a:r>
              <a:t>• 多芯粒异构集成技术</a:t>
            </a:r>
            <a:br/>
            <a:r>
              <a:t>• 1000节点原型系统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53035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目标：流片5次, 样机3套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四个核心科学问题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2286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663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Q1: 物理涌现的充要条件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66344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材料参数→器件行为→网络动力学→智能涌现的多层级映射机制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4663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方法：二维材料堆叠 + 1T2R架构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663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Q2: 多尺度动力学协同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66344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从纳米材料到晶圆系统，跨7个数量级的时空尺度协同机理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657600"/>
            <a:ext cx="4663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方法：热-电-光多物理场建模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5029200" cy="2286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4663440"/>
            <a:ext cx="4663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Q3: 拓扑-功能映射准则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466344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网络拓扑结构与计算功能之间的内在关联和设计准则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6400800"/>
            <a:ext cx="4663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方法：图神经网络 + 凸优化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572000"/>
            <a:ext cx="5029200" cy="22860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663440"/>
            <a:ext cx="4663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Q4: 物理学习机制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303520"/>
            <a:ext cx="466344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无监督、无梯度的片上物理学习算法与硬件实现机制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400800"/>
            <a:ext cx="4663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方法：STDP + 储备池计算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十年路线图（2026-2035）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10058400" cy="1828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468880" y="214884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3200400" cy="27432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3017520"/>
            <a:ext cx="30175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2026-2028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383280"/>
            <a:ext cx="30175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理论突破期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840480"/>
            <a:ext cx="3017520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涌现机理理论建模</a:t>
            </a:r>
            <a:br/>
            <a:r>
              <a:t>• SDSoW架构设计</a:t>
            </a:r>
            <a:br/>
            <a:r>
              <a:t>• 关键器件研发</a:t>
            </a:r>
            <a:br/>
            <a:r>
              <a:t>• 原理验证样机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212080"/>
            <a:ext cx="30175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里程碑：10节点原型</a:t>
            </a:r>
          </a:p>
        </p:txBody>
      </p:sp>
      <p:sp>
        <p:nvSpPr>
          <p:cNvPr id="10" name="Oval 9"/>
          <p:cNvSpPr/>
          <p:nvPr/>
        </p:nvSpPr>
        <p:spPr>
          <a:xfrm>
            <a:off x="5943600" y="214884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72000" y="2926080"/>
            <a:ext cx="3200400" cy="27432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30175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2029-2031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83280"/>
            <a:ext cx="30175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技术整合期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840480"/>
            <a:ext cx="3017520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多尺度协同机制</a:t>
            </a:r>
            <a:br/>
            <a:r>
              <a:t>• 拓扑-功能映射</a:t>
            </a:r>
            <a:br/>
            <a:r>
              <a:t>• 芯粒集成技术</a:t>
            </a:r>
            <a:br/>
            <a:r>
              <a:t>• 100节点系统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212080"/>
            <a:ext cx="30175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里程碑：流片验证</a:t>
            </a:r>
          </a:p>
        </p:txBody>
      </p:sp>
      <p:sp>
        <p:nvSpPr>
          <p:cNvPr id="16" name="Oval 15"/>
          <p:cNvSpPr/>
          <p:nvPr/>
        </p:nvSpPr>
        <p:spPr>
          <a:xfrm>
            <a:off x="9418319" y="214884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19" y="2926080"/>
            <a:ext cx="3200400" cy="27432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38159" y="3017520"/>
            <a:ext cx="30175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2032-2035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383280"/>
            <a:ext cx="30175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工程化推广期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840480"/>
            <a:ext cx="3017520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物理学习算法</a:t>
            </a:r>
            <a:br/>
            <a:r>
              <a:t>• 1000节点系统</a:t>
            </a:r>
            <a:br/>
            <a:r>
              <a:t>• 产业化应用</a:t>
            </a:r>
            <a:br/>
            <a:r>
              <a:t>• 标准规范制定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5212080"/>
            <a:ext cx="30175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里程碑：商业样机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预期成果（2035年）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4754880" cy="25603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1920240"/>
            <a:ext cx="43891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📚 理论突破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60320"/>
            <a:ext cx="4389120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物理涌现智能理论体系</a:t>
            </a:r>
            <a:br/>
            <a:r>
              <a:t>• 复杂网络动力学新理论</a:t>
            </a:r>
            <a:br/>
            <a:r>
              <a:t>• 软件定义物理系统范式</a:t>
            </a:r>
            <a:br/>
            <a:r>
              <a:t>• 跨尺度协同机制模型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43891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顶级期刊论文：50+篇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754880" cy="256032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3891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⚙️ 技术创新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389120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SDSoW/SDI架构标准</a:t>
            </a:r>
            <a:br/>
            <a:r>
              <a:t>• 1000节点物理网络芯片</a:t>
            </a:r>
            <a:br/>
            <a:r>
              <a:t>• 晶圆级热管理技术</a:t>
            </a:r>
            <a:br/>
            <a:r>
              <a:t>• 无梯度学习算法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931920"/>
            <a:ext cx="43891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核心专利：100+项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754880"/>
            <a:ext cx="4754880" cy="256032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80160" y="4846320"/>
            <a:ext cx="43891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🏭 产业应用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486400"/>
            <a:ext cx="4389120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新一代AI芯片产品</a:t>
            </a:r>
            <a:br/>
            <a:r>
              <a:t>• 智能边缘计算平台</a:t>
            </a:r>
            <a:br/>
            <a:r>
              <a:t>• 物理神经网络IP核</a:t>
            </a:r>
            <a:br/>
            <a:r>
              <a:t>• 热管理解决方案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6858000"/>
            <a:ext cx="43891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产业化产品：10+款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754880"/>
            <a:ext cx="4754880" cy="25603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846320"/>
            <a:ext cx="43891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🎓 人才培养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486400"/>
            <a:ext cx="4389120" cy="12801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交叉学科博士培养</a:t>
            </a:r>
            <a:br/>
            <a:r>
              <a:t>• 国际化师资团队</a:t>
            </a:r>
            <a:br/>
            <a:r>
              <a:t>• 产学研协同平台</a:t>
            </a:r>
            <a:br/>
            <a:r>
              <a:t>• 创新创业孵化器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6858000"/>
            <a:ext cx="43891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培养博士：200+人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协同网络与支撑条件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3200400"/>
            <a:ext cx="2286000" cy="2286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212080" y="3931920"/>
            <a:ext cx="192024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iNEST</a:t>
            </a:r>
            <a:br/>
            <a:r>
              <a:t>研究组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3520440"/>
            <a:ext cx="1645920" cy="16459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0" y="4069080"/>
            <a:ext cx="14630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复旦大学</a:t>
            </a:r>
            <a:br/>
            <a:r>
              <a:t>物理系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6080760"/>
            <a:ext cx="1645920" cy="164592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40680" y="6629400"/>
            <a:ext cx="14630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天津大学</a:t>
            </a:r>
            <a:br/>
            <a:r>
              <a:t>集成电路学院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3520440"/>
            <a:ext cx="1645920" cy="16459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4069080"/>
            <a:ext cx="14630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ETH Zurich</a:t>
            </a:r>
            <a:br/>
            <a:r>
              <a:t>合作实验室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39" y="960120"/>
            <a:ext cx="1645920" cy="16459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1508760"/>
            <a:ext cx="14630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MIT CSAIL</a:t>
            </a:r>
            <a:br/>
            <a:r>
              <a:t>访问学者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17920"/>
            <a:ext cx="10360152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支撑条件：国家重点实验室平台 • 1.5亿元经费投入 • 国际一流设备 • 产业化基金支持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差异化定位与创新点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4754880" cy="54864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47548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传统方法 vs iNEST创新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4754880" cy="54864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47548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突破性优势与创新点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4754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2331720"/>
            <a:ext cx="109728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066CC"/>
                </a:solidFill>
                <a:latin typeface="Microsoft YaHei"/>
              </a:defRPr>
            </a:pPr>
            <a:r>
              <a:t>理论创新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377440"/>
            <a:ext cx="329184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• 分离式器件设计</a:t>
            </a:r>
            <a:br/>
            <a:r>
              <a:t>• 静态网络拓扑</a:t>
            </a:r>
            <a:br/>
            <a:r>
              <a:t>• 基于梯度的学习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4754880" cy="11887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38912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物理涌现智能理论</a:t>
            </a:r>
            <a:br/>
            <a:r>
              <a:t>• 软件定义动态网络</a:t>
            </a:r>
            <a:br/>
            <a:r>
              <a:t>• 无梯度物理学习机制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566160"/>
            <a:ext cx="4754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63040" y="3611880"/>
            <a:ext cx="109728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066CC"/>
                </a:solidFill>
                <a:latin typeface="Microsoft YaHei"/>
              </a:defRPr>
            </a:pPr>
            <a:r>
              <a:t>技术路径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57600"/>
            <a:ext cx="329184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• 冯诺依曼架构</a:t>
            </a:r>
            <a:br/>
            <a:r>
              <a:t>• 数字信号处理</a:t>
            </a:r>
            <a:br/>
            <a:r>
              <a:t>• 单一材料体系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566160"/>
            <a:ext cx="4754880" cy="11887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438912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存算一体架构</a:t>
            </a:r>
            <a:br/>
            <a:r>
              <a:t>• 模拟-数字混合</a:t>
            </a:r>
            <a:br/>
            <a:r>
              <a:t>• 多材料异构集成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846320"/>
            <a:ext cx="4754880" cy="118872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4892040"/>
            <a:ext cx="109728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0066CC"/>
                </a:solidFill>
                <a:latin typeface="Microsoft YaHei"/>
              </a:defRPr>
            </a:pPr>
            <a:r>
              <a:t>系统规模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937760"/>
            <a:ext cx="329184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• 百级节点规模</a:t>
            </a:r>
            <a:br/>
            <a:r>
              <a:t>• 二维平面布局</a:t>
            </a:r>
            <a:br/>
            <a:r>
              <a:t>• 被动散热方案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46320"/>
            <a:ext cx="4754880" cy="11887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4937760"/>
            <a:ext cx="438912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千级节点规模</a:t>
            </a:r>
            <a:br/>
            <a:r>
              <a:t>• 三维立体集成</a:t>
            </a:r>
            <a:br/>
            <a:r>
              <a:t>• 主动热管理设计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4572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iNEST研究组核心团队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2286000"/>
            <a:ext cx="2286000" cy="2286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74920" y="2926080"/>
            <a:ext cx="201168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刘勤让</a:t>
            </a:r>
            <a:br/>
            <a:r>
              <a:t>学科负责人</a:t>
            </a:r>
            <a:br/>
            <a:r>
              <a:t>SDSoW/SDI架构师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2560320" cy="201168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HYu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83080"/>
            <a:ext cx="23774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忆阻器与涌现机理专家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86000"/>
            <a:ext cx="2377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当前: RRAM器件</a:t>
            </a:r>
            <a:br/>
            <a:r>
              <a:t>MoS₂材料</a:t>
            </a:r>
            <a:br/>
            <a:r>
              <a:t>1T2R架构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92608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目标: 方向一核心成员</a:t>
            </a:r>
            <a:br/>
            <a:r>
              <a:t>+方向三器件负责人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71600"/>
            <a:ext cx="2560320" cy="201168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0" y="141732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刘强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783080"/>
            <a:ext cx="23774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边缘计算与可重构架构专家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286000"/>
            <a:ext cx="2377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当前: 可重构芯片</a:t>
            </a:r>
            <a:br/>
            <a:r>
              <a:t>凸优化设计</a:t>
            </a:r>
            <a:br/>
            <a:r>
              <a:t>功耗自适应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92608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目标: 方向二架构</a:t>
            </a:r>
            <a:br/>
            <a:r>
              <a:t>设计负责人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389120"/>
            <a:ext cx="2560320" cy="201168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63040" y="443484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郑德印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800600"/>
            <a:ext cx="23774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高功率系统散热专家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03520"/>
            <a:ext cx="2377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当前: SoW散热</a:t>
            </a:r>
            <a:br/>
            <a:r>
              <a:t>浸没液冷</a:t>
            </a:r>
            <a:br/>
            <a:r>
              <a:t>均热板设计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94360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目标: 方向三热管理</a:t>
            </a:r>
            <a:br/>
            <a:r>
              <a:t>与集成负责人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4389120"/>
            <a:ext cx="2560320" cy="2011680"/>
          </a:xfrm>
          <a:prstGeom prst="roundRect">
            <a:avLst/>
          </a:prstGeom>
          <a:solidFill>
            <a:srgbClr val="663399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0" y="443484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解晨佳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00600"/>
            <a:ext cx="23774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NPU架构与LLM加速专家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303520"/>
            <a:ext cx="23774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当前: NPU设计</a:t>
            </a:r>
            <a:br/>
            <a:r>
              <a:t>LLM推理</a:t>
            </a:r>
            <a:br/>
            <a:r>
              <a:t>RISCV SoC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5943600"/>
            <a:ext cx="23774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目标: 方向二软硬协同</a:t>
            </a:r>
            <a:br/>
            <a:r>
              <a:t>与工具链负责人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团队知识结构升级路径（2026-2030）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1371600"/>
            <a:ext cx="8778240" cy="914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1005840"/>
            <a:ext cx="7315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1005840"/>
            <a:ext cx="7315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1005840"/>
            <a:ext cx="7315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2028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005840"/>
            <a:ext cx="7315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2029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005840"/>
            <a:ext cx="73152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000000"/>
                </a:solidFill>
                <a:latin typeface="Microsoft YaHei"/>
              </a:defRPr>
            </a:pPr>
            <a:r>
              <a:t>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4A9EFF"/>
                </a:solidFill>
                <a:latin typeface="Microsoft YaHei"/>
              </a:defRPr>
            </a:pPr>
            <a:r>
              <a:t>HYu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2450592"/>
            <a:ext cx="8046720" cy="36576"/>
          </a:xfrm>
          <a:prstGeom prst="rect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121408" y="2395728"/>
            <a:ext cx="146304" cy="14630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忆阻器阵列物理动力学</a:t>
            </a:r>
          </a:p>
        </p:txBody>
      </p:sp>
      <p:sp>
        <p:nvSpPr>
          <p:cNvPr id="13" name="Oval 12"/>
          <p:cNvSpPr/>
          <p:nvPr/>
        </p:nvSpPr>
        <p:spPr>
          <a:xfrm>
            <a:off x="4133088" y="2395728"/>
            <a:ext cx="146304" cy="14630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材料非线性特性研究</a:t>
            </a:r>
          </a:p>
        </p:txBody>
      </p:sp>
      <p:sp>
        <p:nvSpPr>
          <p:cNvPr id="15" name="Oval 14"/>
          <p:cNvSpPr/>
          <p:nvPr/>
        </p:nvSpPr>
        <p:spPr>
          <a:xfrm>
            <a:off x="6144768" y="2395728"/>
            <a:ext cx="146304" cy="14630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0" y="26060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可重构拓扑网络设计</a:t>
            </a:r>
          </a:p>
        </p:txBody>
      </p:sp>
      <p:sp>
        <p:nvSpPr>
          <p:cNvPr id="17" name="Oval 16"/>
          <p:cNvSpPr/>
          <p:nvPr/>
        </p:nvSpPr>
        <p:spPr>
          <a:xfrm>
            <a:off x="8156448" y="2395728"/>
            <a:ext cx="146304" cy="14630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0" y="26060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涌现临界现象探索</a:t>
            </a:r>
          </a:p>
        </p:txBody>
      </p:sp>
      <p:sp>
        <p:nvSpPr>
          <p:cNvPr id="19" name="Oval 18"/>
          <p:cNvSpPr/>
          <p:nvPr/>
        </p:nvSpPr>
        <p:spPr>
          <a:xfrm>
            <a:off x="10168128" y="2395728"/>
            <a:ext cx="146304" cy="146304"/>
          </a:xfrm>
          <a:prstGeom prst="ellipse">
            <a:avLst/>
          </a:prstGeom>
          <a:solidFill>
            <a:srgbClr val="4A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92640" y="26060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多材料异构集成芯片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0040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9500"/>
                </a:solidFill>
                <a:latin typeface="Microsoft YaHei"/>
              </a:defRPr>
            </a:pPr>
            <a:r>
              <a:t>刘强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364992"/>
            <a:ext cx="8046720" cy="36576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121408" y="3310128"/>
            <a:ext cx="146304" cy="146304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35204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可重构架构动态映射</a:t>
            </a:r>
          </a:p>
        </p:txBody>
      </p:sp>
      <p:sp>
        <p:nvSpPr>
          <p:cNvPr id="25" name="Oval 24"/>
          <p:cNvSpPr/>
          <p:nvPr/>
        </p:nvSpPr>
        <p:spPr>
          <a:xfrm>
            <a:off x="4133088" y="3310128"/>
            <a:ext cx="146304" cy="146304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0" y="35204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网络拓扑优化算法</a:t>
            </a:r>
          </a:p>
        </p:txBody>
      </p:sp>
      <p:sp>
        <p:nvSpPr>
          <p:cNvPr id="27" name="Oval 26"/>
          <p:cNvSpPr/>
          <p:nvPr/>
        </p:nvSpPr>
        <p:spPr>
          <a:xfrm>
            <a:off x="6144768" y="3310128"/>
            <a:ext cx="146304" cy="146304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0" y="35204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软件定义物理网络</a:t>
            </a:r>
          </a:p>
        </p:txBody>
      </p:sp>
      <p:sp>
        <p:nvSpPr>
          <p:cNvPr id="29" name="Oval 28"/>
          <p:cNvSpPr/>
          <p:nvPr/>
        </p:nvSpPr>
        <p:spPr>
          <a:xfrm>
            <a:off x="8156448" y="3310128"/>
            <a:ext cx="146304" cy="146304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80960" y="35204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SDI架构原型设计</a:t>
            </a:r>
          </a:p>
        </p:txBody>
      </p:sp>
      <p:sp>
        <p:nvSpPr>
          <p:cNvPr id="31" name="Oval 30"/>
          <p:cNvSpPr/>
          <p:nvPr/>
        </p:nvSpPr>
        <p:spPr>
          <a:xfrm>
            <a:off x="10168128" y="3310128"/>
            <a:ext cx="146304" cy="146304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92640" y="35204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架构标准化与推广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1480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808080"/>
                </a:solidFill>
                <a:latin typeface="Microsoft YaHei"/>
              </a:defRPr>
            </a:pPr>
            <a:r>
              <a:t>郑德印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94560" y="4279392"/>
            <a:ext cx="8046720" cy="36576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121408" y="4224528"/>
            <a:ext cx="146304" cy="146304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645920" y="44348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晶圆级高密度散热</a:t>
            </a:r>
          </a:p>
        </p:txBody>
      </p:sp>
      <p:sp>
        <p:nvSpPr>
          <p:cNvPr id="37" name="Oval 36"/>
          <p:cNvSpPr/>
          <p:nvPr/>
        </p:nvSpPr>
        <p:spPr>
          <a:xfrm>
            <a:off x="4133088" y="4224528"/>
            <a:ext cx="146304" cy="146304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44348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多热源动态负载方案</a:t>
            </a:r>
          </a:p>
        </p:txBody>
      </p:sp>
      <p:sp>
        <p:nvSpPr>
          <p:cNvPr id="39" name="Oval 38"/>
          <p:cNvSpPr/>
          <p:nvPr/>
        </p:nvSpPr>
        <p:spPr>
          <a:xfrm>
            <a:off x="6144768" y="4224528"/>
            <a:ext cx="146304" cy="146304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669280" y="44348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热-电协同设计</a:t>
            </a:r>
          </a:p>
        </p:txBody>
      </p:sp>
      <p:sp>
        <p:nvSpPr>
          <p:cNvPr id="41" name="Oval 40"/>
          <p:cNvSpPr/>
          <p:nvPr/>
        </p:nvSpPr>
        <p:spPr>
          <a:xfrm>
            <a:off x="8156448" y="4224528"/>
            <a:ext cx="146304" cy="146304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80960" y="44348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自适应散热控制</a:t>
            </a:r>
          </a:p>
        </p:txBody>
      </p:sp>
      <p:sp>
        <p:nvSpPr>
          <p:cNvPr id="43" name="Oval 42"/>
          <p:cNvSpPr/>
          <p:nvPr/>
        </p:nvSpPr>
        <p:spPr>
          <a:xfrm>
            <a:off x="10168128" y="4224528"/>
            <a:ext cx="146304" cy="146304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92640" y="44348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物理网络热管理系统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029200"/>
            <a:ext cx="10972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663399"/>
                </a:solidFill>
                <a:latin typeface="Microsoft YaHei"/>
              </a:defRPr>
            </a:pPr>
            <a:r>
              <a:t>解晨佳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194560" y="5193792"/>
            <a:ext cx="8046720" cy="36576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2121408" y="5138928"/>
            <a:ext cx="146304" cy="146304"/>
          </a:xfrm>
          <a:prstGeom prst="ellipse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45920" y="53492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神经网络物理映射</a:t>
            </a:r>
          </a:p>
        </p:txBody>
      </p:sp>
      <p:sp>
        <p:nvSpPr>
          <p:cNvPr id="49" name="Oval 48"/>
          <p:cNvSpPr/>
          <p:nvPr/>
        </p:nvSpPr>
        <p:spPr>
          <a:xfrm>
            <a:off x="4133088" y="5138928"/>
            <a:ext cx="146304" cy="146304"/>
          </a:xfrm>
          <a:prstGeom prst="ellipse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0" y="53492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LLM架构涌现提取</a:t>
            </a:r>
          </a:p>
        </p:txBody>
      </p:sp>
      <p:sp>
        <p:nvSpPr>
          <p:cNvPr id="51" name="Oval 50"/>
          <p:cNvSpPr/>
          <p:nvPr/>
        </p:nvSpPr>
        <p:spPr>
          <a:xfrm>
            <a:off x="6144768" y="5138928"/>
            <a:ext cx="146304" cy="146304"/>
          </a:xfrm>
          <a:prstGeom prst="ellipse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669280" y="53492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无梯度学习算法</a:t>
            </a:r>
          </a:p>
        </p:txBody>
      </p:sp>
      <p:sp>
        <p:nvSpPr>
          <p:cNvPr id="53" name="Oval 52"/>
          <p:cNvSpPr/>
          <p:nvPr/>
        </p:nvSpPr>
        <p:spPr>
          <a:xfrm>
            <a:off x="8156448" y="5138928"/>
            <a:ext cx="146304" cy="146304"/>
          </a:xfrm>
          <a:prstGeom prst="ellipse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680960" y="53492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物理AI芯片设计</a:t>
            </a:r>
          </a:p>
        </p:txBody>
      </p:sp>
      <p:sp>
        <p:nvSpPr>
          <p:cNvPr id="55" name="Oval 54"/>
          <p:cNvSpPr/>
          <p:nvPr/>
        </p:nvSpPr>
        <p:spPr>
          <a:xfrm>
            <a:off x="10168128" y="5138928"/>
            <a:ext cx="146304" cy="146304"/>
          </a:xfrm>
          <a:prstGeom prst="ellipse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92640" y="5349240"/>
            <a:ext cx="10972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000000"/>
                </a:solidFill>
                <a:latin typeface="Microsoft YaHei"/>
              </a:defRPr>
            </a:pPr>
            <a:r>
              <a:t>软硬协同工具链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五年项目规划（2026-2030）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50292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3291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方向一：物理系统智能涌现机理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2918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负责人：复旦大学团队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3291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核心成员：HYu（忆阻器物理动力学）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3291840" cy="2926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项目1（2026-2027）：忆阻器阵列涌现临界现象研究</a:t>
            </a:r>
            <a:br/>
            <a:r>
              <a:t>项目2（2028-2029）：二维材料网络拓扑优化</a:t>
            </a:r>
            <a:br/>
            <a:r>
              <a:t>项目3（2029-2030）：多材料异构涌现智能验证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3291840" cy="228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成果目标：PRL ×2, PNAS ×1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371600"/>
            <a:ext cx="3474720" cy="50292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291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方向二：软件定义物理网络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32918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负责人：NDSC（刘勤让）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68880"/>
            <a:ext cx="3291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核心成员：刘强（架构设计）+ 解晨佳（工具链）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08960"/>
            <a:ext cx="3291840" cy="2926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项目1（2026-2027）：SDSoW架构设计与仿真</a:t>
            </a:r>
            <a:br/>
            <a:r>
              <a:t>项目2（2027-2028）：拓扑优化算法开发</a:t>
            </a:r>
            <a:br/>
            <a:r>
              <a:t>项目3（2028-2029）：SDI原型系统实现</a:t>
            </a:r>
            <a:br/>
            <a:r>
              <a:t>项目4（2029-2030）：软硬协同工具链开发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6126480"/>
            <a:ext cx="3291840" cy="228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成果目标：Nature Electronics ×1, ISSCC ×3, 专利15项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71600"/>
            <a:ext cx="3474720" cy="50292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0" y="1463040"/>
            <a:ext cx="3291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方向三：物理智能系统工程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0" y="2103120"/>
            <a:ext cx="329184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负责人：天津大学团队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468880"/>
            <a:ext cx="3291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核心成员：HYu（器件）+ 郑德印（热管理）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3108960"/>
            <a:ext cx="3291840" cy="2926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项目1（2026-2027）：忆阻器芯粒设计与流片</a:t>
            </a:r>
            <a:br/>
            <a:r>
              <a:t>项目2（2027-2028）：晶圆级热管理方案</a:t>
            </a:r>
            <a:br/>
            <a:r>
              <a:t>项目3（2028-2029）：多芯粒异构集成</a:t>
            </a:r>
            <a:br/>
            <a:r>
              <a:t>项目4（2029-2030）：1000节点原型系统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6126480"/>
            <a:ext cx="3291840" cy="228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成果目标：流片5次, 样机3套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关键技术突破点与成员贡献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25603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737360"/>
            <a:ext cx="475488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Q1: 物理涌现的充要条件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286000"/>
            <a:ext cx="47548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技术负责人：HYu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43200"/>
            <a:ext cx="47548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突破点：忆阻器材料参数与涌现阈值的映射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66160"/>
            <a:ext cx="47548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方法：二维材料堆叠 + 1T2R差分架构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25603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75488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Q2: 多尺度动力学协同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86000"/>
            <a:ext cx="47548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技术负责人：郑德印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47548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突破点：热-电-光多物理场协同建模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566160"/>
            <a:ext cx="47548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方法：相变传热 + 均热板 + 浸没液冷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72000"/>
            <a:ext cx="5029200" cy="256032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4663440"/>
            <a:ext cx="475488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Q3: 拓扑-功能映射准则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212080"/>
            <a:ext cx="47548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技术负责人：刘强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669280"/>
            <a:ext cx="47548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突破点：可重构架构的凸优化设计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6492240"/>
            <a:ext cx="47548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方法：几何规划 + 动态配置 + 功耗自适应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5029200" cy="2560320"/>
          </a:xfrm>
          <a:prstGeom prst="roundRect">
            <a:avLst/>
          </a:prstGeom>
          <a:solidFill>
            <a:srgbClr val="663399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4663440"/>
            <a:ext cx="475488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Q4: 物理学习机制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5212080"/>
            <a:ext cx="475488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技术负责人：解晨佳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669280"/>
            <a:ext cx="475488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突破点：无梯度片上学习算法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6492240"/>
            <a:ext cx="475488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方法：NPU压缩技术 + STDP映射 + 工具链开发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分阶段人才培养计划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阶段一：基础转型（2026-2027）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200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集中培训：复杂网络理论、涌现现象、物理学习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3200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交叉合作：每位成员参与至少2个跨方向项目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成果要求：每人1篇跨领域综述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160520" y="3611880"/>
            <a:ext cx="18288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7373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阶段二：深度融合（2028-2029）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560320"/>
            <a:ext cx="3200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联合攻关：四人组成核心攻关小组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657600"/>
            <a:ext cx="3200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国际交流：每人至少1次海外访学（ETH/MIT等）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84632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成果要求：联合署名Nature子刊1篇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818120" y="3611880"/>
            <a:ext cx="182880" cy="18288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0" y="17373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阶段三：独立引领（2029-2030）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560320"/>
            <a:ext cx="3200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独立负责：每人负责1个子方向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657600"/>
            <a:ext cx="32004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团队扩展：每人带领3-5人小组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84632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成果要求：每人主导1项国家级项目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五年经费预算与资源分配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2800">
                <a:solidFill>
                  <a:srgbClr val="0066CC"/>
                </a:solidFill>
                <a:latin typeface="Microsoft YaHei"/>
              </a:defRPr>
            </a:pPr>
            <a:r>
              <a:t>总预算：1.5亿元（2026-2030）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201168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3200400" cy="640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复旦大学</a:t>
            </a:r>
            <a:br/>
            <a:r>
              <a:t>5000万元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理论与材料研究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基础理论建模</a:t>
            </a:r>
            <a:br/>
            <a:r>
              <a:t>• 二维材料制备</a:t>
            </a:r>
            <a:br/>
            <a:r>
              <a:t>• 涌现现象实验</a:t>
            </a:r>
            <a:br/>
            <a:r>
              <a:t>• 博士生培养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01168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640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NDSC</a:t>
            </a:r>
            <a:br/>
            <a:r>
              <a:t>6000万元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架构与工具链开发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01752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SDSoW/SDI架构</a:t>
            </a:r>
            <a:br/>
            <a:r>
              <a:t>• 优化算法开发</a:t>
            </a:r>
            <a:br/>
            <a:r>
              <a:t>• 软件工具链</a:t>
            </a:r>
            <a:br/>
            <a:r>
              <a:t>• 原型系统集成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201168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00400" cy="640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天津大学</a:t>
            </a:r>
            <a:br/>
            <a:r>
              <a:t>4000万元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工程与集成技术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01752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忆阻器芯粒制造</a:t>
            </a:r>
            <a:br/>
            <a:r>
              <a:t>• 热管理系统</a:t>
            </a:r>
            <a:br/>
            <a:r>
              <a:t>• 异构集成工艺</a:t>
            </a:r>
            <a:br/>
            <a:r>
              <a:t>• 样机开发测试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0066CC"/>
                </a:solidFill>
                <a:latin typeface="Microsoft YaHei"/>
              </a:defRPr>
            </a:pPr>
            <a:r>
              <a:t>按成员分配明细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24688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22860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HYu</a:t>
            </a:r>
            <a:br/>
            <a:r>
              <a:t>3500万元</a:t>
            </a:r>
            <a:br/>
            <a:r>
              <a:t>器件研发 + 流片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4572000"/>
            <a:ext cx="24688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0" y="4663440"/>
            <a:ext cx="22860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刘强</a:t>
            </a:r>
            <a:br/>
            <a:r>
              <a:t>2500万元</a:t>
            </a:r>
            <a:br/>
            <a:r>
              <a:t>架构设计 + 软件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24688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4663440"/>
            <a:ext cx="22860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郑德印</a:t>
            </a:r>
            <a:br/>
            <a:r>
              <a:t>2000万元</a:t>
            </a:r>
            <a:br/>
            <a:r>
              <a:t>热管理平台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4572000"/>
            <a:ext cx="2468880" cy="1097280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0" y="4663440"/>
            <a:ext cx="2286000" cy="9144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000000"/>
                </a:solidFill>
                <a:latin typeface="Microsoft YaHei"/>
              </a:defRPr>
            </a:pPr>
            <a:r>
              <a:t>解晨佳</a:t>
            </a:r>
            <a:br/>
            <a:r>
              <a:t>1500万元</a:t>
            </a:r>
            <a:br/>
            <a:r>
              <a:t>工具链开发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08960" y="5852160"/>
            <a:ext cx="5029200" cy="7315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200400" y="5943600"/>
            <a:ext cx="48463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公共平台：2000万元（测试设备）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0" y="5852160"/>
            <a:ext cx="5029200" cy="7315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5943600"/>
            <a:ext cx="484632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国际合作：1000万元（访学交流）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理论基础与科学内涵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复杂系统理论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涌现现象数学建模</a:t>
            </a:r>
            <a:br/>
            <a:r>
              <a:t>• 临界相变理论</a:t>
            </a:r>
            <a:br/>
            <a:r>
              <a:t>• 多尺度动力学</a:t>
            </a:r>
            <a:br/>
            <a:r>
              <a:t>• 非线性系统分析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3200400" cy="1188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核心公式:</a:t>
            </a:r>
            <a:br/>
            <a:r>
              <a:t>H = -Σ p(i) log p(i)</a:t>
            </a:r>
            <a:br/>
            <a:r>
              <a:t>Φ = Σ φ(X₁→X₂)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网络科学理论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图论与拓扑分析</a:t>
            </a:r>
            <a:br/>
            <a:r>
              <a:t>• 网络动力学建模</a:t>
            </a:r>
            <a:br/>
            <a:r>
              <a:t>• 同步与协调理论</a:t>
            </a:r>
            <a:br/>
            <a:r>
              <a:t>• 鲁棒性与脆弱性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846320"/>
            <a:ext cx="3200400" cy="1188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核心公式:</a:t>
            </a:r>
            <a:br/>
            <a:r>
              <a:t>L = D - A</a:t>
            </a:r>
            <a:br/>
            <a:r>
              <a:t>λ₂ ≤ sync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73736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物理计算理论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37744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储备池计算模型</a:t>
            </a:r>
            <a:br/>
            <a:r>
              <a:t>• 神经形态计算</a:t>
            </a:r>
            <a:br/>
            <a:r>
              <a:t>• 量子计算原理</a:t>
            </a:r>
            <a:br/>
            <a:r>
              <a:t>• 自组织映射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4846320"/>
            <a:ext cx="3200400" cy="11887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核心公式:</a:t>
            </a:r>
            <a:br/>
            <a:r>
              <a:t>y(t) = f(Wx(t) + Wr(t-1))</a:t>
            </a:r>
            <a:br/>
            <a:r>
              <a:t>Δw ∝ STDP rule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SDSoW架构设计原理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058400" cy="9144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8288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应用层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物理AI应用、智能计算任务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417320"/>
            <a:ext cx="411480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机器学习算法</a:t>
            </a:r>
            <a:br/>
            <a:r>
              <a:t>• 优化问题求解</a:t>
            </a:r>
            <a:br/>
            <a:r>
              <a:t>• 模式识别任务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0058400" cy="9144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18288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软件定义层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517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拓扑配置、资源管理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11480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动态拓扑重配</a:t>
            </a:r>
            <a:br/>
            <a:r>
              <a:t>• 负载均衡策略</a:t>
            </a:r>
            <a:br/>
            <a:r>
              <a:t>• 故障恢复机制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749039"/>
            <a:ext cx="10058400" cy="9144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840479"/>
            <a:ext cx="18288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网络层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840479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节点间通信、数据路由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794759"/>
            <a:ext cx="411480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片上网络协议</a:t>
            </a:r>
            <a:br/>
            <a:r>
              <a:t>• 数据包路由</a:t>
            </a:r>
            <a:br/>
            <a:r>
              <a:t>• 拥塞控制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37760"/>
            <a:ext cx="10058400" cy="91440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18288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物理层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02920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忆阻器阵列、芯粒集成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983480"/>
            <a:ext cx="4114800" cy="8229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RRAM器件阵列</a:t>
            </a:r>
            <a:br/>
            <a:r>
              <a:t>• 芯粒互连技术</a:t>
            </a:r>
            <a:br/>
            <a:r>
              <a:t>• 模拟计算单元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忆阻器物理机理与动力学建模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22860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48463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器件物理模型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氧空位迁移机制</a:t>
            </a:r>
            <a:br/>
            <a:r>
              <a:t>• 导电细丝形成</a:t>
            </a:r>
            <a:br/>
            <a:r>
              <a:t>• 二维材料界面效应</a:t>
            </a:r>
            <a:br/>
            <a:r>
              <a:t>• 量子隧穿现象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5760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I = G(w,V)V</a:t>
            </a:r>
            <a:br/>
            <a:r>
              <a:t>dw/dt = f(w,V)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网络动力学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6888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节点状态演化</a:t>
            </a:r>
            <a:br/>
            <a:r>
              <a:t>• 同步化现象</a:t>
            </a:r>
            <a:br/>
            <a:r>
              <a:t>• 临界动力学</a:t>
            </a:r>
            <a:br/>
            <a:r>
              <a:t>• 涌现行为预测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65760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ẋᵢ = f(xᵢ) + Σⱼ Aᵢⱼg(xⱼ)</a:t>
            </a:r>
            <a:br/>
            <a:r>
              <a:t>Φ → Φc (临界点)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5029200" cy="22860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8463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学习机制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1208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STDP可塑性规则</a:t>
            </a:r>
            <a:br/>
            <a:r>
              <a:t>• Hebbian学习</a:t>
            </a:r>
            <a:br/>
            <a:r>
              <a:t>• 反Hebbian抑制</a:t>
            </a:r>
            <a:br/>
            <a:r>
              <a:t>• 竞争学习机制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640080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Δw = A exp(-Δt/τ)</a:t>
            </a:r>
            <a:br/>
            <a:r>
              <a:t>τ = τ₀ exp(V/V₀)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572000"/>
            <a:ext cx="5029200" cy="228600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84632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热效应建模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21208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焦耳热产生</a:t>
            </a:r>
            <a:br/>
            <a:r>
              <a:t>• 温度依赖阻变</a:t>
            </a:r>
            <a:br/>
            <a:r>
              <a:t>• 热串扰效应</a:t>
            </a:r>
            <a:br/>
            <a:r>
              <a:t>• 散热路径设计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40080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Q = I²R(T)</a:t>
            </a:r>
            <a:br/>
            <a:r>
              <a:t>T = f(Q, κ, geometry)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晶圆级热管理系统设计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浸没式液冷技术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全氟化液体冷却剂</a:t>
            </a:r>
            <a:br/>
            <a:r>
              <a:t>• 直接接触散热</a:t>
            </a:r>
            <a:br/>
            <a:r>
              <a:t>• 沸腾换热机制</a:t>
            </a:r>
            <a:br/>
            <a:r>
              <a:t>• 循环泵送系统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性能指标:</a:t>
            </a:r>
            <a:br/>
            <a:r>
              <a:t>散热功率: &gt;1kW/cm²</a:t>
            </a:r>
            <a:br/>
            <a:r>
              <a:t>温控精度: ±1°C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硅基均热板设计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微通道结构</a:t>
            </a:r>
            <a:br/>
            <a:r>
              <a:t>• 相变材料填充</a:t>
            </a:r>
            <a:br/>
            <a:r>
              <a:t>• 多层散热路径</a:t>
            </a:r>
            <a:br/>
            <a:r>
              <a:t>• 热阻优化设计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02920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性能指标:</a:t>
            </a:r>
            <a:br/>
            <a:r>
              <a:t>热阻: &lt;0.1K·cm²/W</a:t>
            </a:r>
            <a:br/>
            <a:r>
              <a:t>响应时间: &lt;10ms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智能热管理控制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603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温度传感器阵列</a:t>
            </a:r>
            <a:br/>
            <a:r>
              <a:t>• 自适应流量调节</a:t>
            </a:r>
            <a:br/>
            <a:r>
              <a:t>• 热点预测算法</a:t>
            </a:r>
            <a:br/>
            <a:r>
              <a:t>• 负载均衡策略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02920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性能指标:</a:t>
            </a:r>
            <a:br/>
            <a:r>
              <a:t>监控精度: 0.1°C</a:t>
            </a:r>
            <a:br/>
            <a:r>
              <a:t>控制延时: &lt;1ms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制造工艺与集成流程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68880" cy="36576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22860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器件制造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2286000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RRAM器件制备</a:t>
            </a:r>
            <a:br/>
            <a:r>
              <a:t>• 二维材料转移</a:t>
            </a:r>
            <a:br/>
            <a:r>
              <a:t>• 电极图形化</a:t>
            </a:r>
            <a:br/>
            <a:r>
              <a:t>• 钝化层沉积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2-3个月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3749040"/>
            <a:ext cx="137160" cy="182880"/>
          </a:xfrm>
          <a:prstGeom prst="rightArrow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468880" cy="36576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560320"/>
            <a:ext cx="22860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芯粒设计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108960"/>
            <a:ext cx="2286000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版图设计验证</a:t>
            </a:r>
            <a:br/>
            <a:r>
              <a:t>• DRC/LVS检查</a:t>
            </a:r>
            <a:br/>
            <a:r>
              <a:t>• 寄生参数提取</a:t>
            </a:r>
            <a:br/>
            <a:r>
              <a:t>• 仿真验证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21208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1-2个月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97880" y="3749040"/>
            <a:ext cx="137160" cy="182880"/>
          </a:xfrm>
          <a:prstGeom prst="rightArrow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35040" y="2011680"/>
            <a:ext cx="2468880" cy="36576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26480" y="210312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560320"/>
            <a:ext cx="22860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晶圆制造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08960"/>
            <a:ext cx="2286000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多项目晶圆</a:t>
            </a:r>
            <a:br/>
            <a:r>
              <a:t>• 工艺监控测试</a:t>
            </a:r>
            <a:br/>
            <a:r>
              <a:t>• 良率分析</a:t>
            </a:r>
            <a:br/>
            <a:r>
              <a:t>• 切割封装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21208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3-4个月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549640" y="3749040"/>
            <a:ext cx="137160" cy="182880"/>
          </a:xfrm>
          <a:prstGeom prst="rightArrow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0" y="2011680"/>
            <a:ext cx="2468880" cy="36576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0" y="210312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560320"/>
            <a:ext cx="228600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系统集成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3108960"/>
            <a:ext cx="2286000" cy="20116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• 芯粒互连</a:t>
            </a:r>
            <a:br/>
            <a:r>
              <a:t>• 热管理集成</a:t>
            </a:r>
            <a:br/>
            <a:r>
              <a:t>• 测试验证</a:t>
            </a:r>
            <a:br/>
            <a:r>
              <a:t>• 性能优化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212080"/>
            <a:ext cx="22860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2-3个月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性能指标与评估基准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74720" cy="4572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32918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计算性能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指标           目标值        当前值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5176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峰值算力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65176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 TOPS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65176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 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能效比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38328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1000 TOPS/W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38328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 TOPS/W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1480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延迟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11480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&lt;1ms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11480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4632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吞吐量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4632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1TB/s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84632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100GB/s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645920"/>
            <a:ext cx="3474720" cy="45720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1737360"/>
            <a:ext cx="32918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系统集成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286000"/>
            <a:ext cx="329184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指标           目标值        当前值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65176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节点规模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265176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1000个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65176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38328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芯粒数量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8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64个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38328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16个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11480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互连带宽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11480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1TB/s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11480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100GB/s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84632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功耗密度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84632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1kW/cm²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84632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100W/cm²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79" y="1645920"/>
            <a:ext cx="3474720" cy="45720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46719" y="1737360"/>
            <a:ext cx="3291840" cy="4572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可靠性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2286000"/>
            <a:ext cx="3291840" cy="2743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指标           目标值        当前值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39" y="265176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MTBF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3999" y="265176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&gt;10000h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79" y="265176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1000h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2439" y="338328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良率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3999" y="338328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&gt;95%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79" y="338328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92439" y="411480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温控精度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3999" y="411480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±1°C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79" y="411480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±5°C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92439" y="4846320"/>
            <a:ext cx="914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寿命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3999" y="484632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&gt;10年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79" y="4846320"/>
            <a:ext cx="100584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900">
                <a:solidFill>
                  <a:srgbClr val="FFFFFF"/>
                </a:solidFill>
                <a:latin typeface="Microsoft YaHei"/>
              </a:defRPr>
            </a:pPr>
            <a:r>
              <a:t>2年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风险管理与应对策略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5029200" cy="256032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技术风险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8463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器件可靠性、工艺稳定性</a:t>
            </a:r>
            <a:br/>
            <a:r>
              <a:t>概率: 中等 | 影响: 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应对措施:</a:t>
            </a:r>
            <a:br/>
            <a:r>
              <a:t>• 多材料备选方案</a:t>
            </a:r>
            <a:br/>
            <a:r>
              <a:t>• 工艺容差设计</a:t>
            </a:r>
            <a:br/>
            <a:r>
              <a:t>• 冗余架构设计</a:t>
            </a:r>
            <a:br/>
            <a:r>
              <a:t>• 定期可靠性测试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256032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进度风险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8463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项目延期、里程碑滞后</a:t>
            </a:r>
            <a:br/>
            <a:r>
              <a:t>概率: 中等 | 影响: 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01752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应对措施:</a:t>
            </a:r>
            <a:br/>
            <a:r>
              <a:t>• 并行开发策略</a:t>
            </a:r>
            <a:br/>
            <a:r>
              <a:t>• 阶段性验证</a:t>
            </a:r>
            <a:br/>
            <a:r>
              <a:t>• 敏捷管理方法</a:t>
            </a:r>
            <a:br/>
            <a:r>
              <a:t>• 外部合作支持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5029200" cy="256032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66344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资源风险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48463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人员流失、经费不足</a:t>
            </a:r>
            <a:br/>
            <a:r>
              <a:t>概率: 低 | 影响: 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94360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应对措施:</a:t>
            </a:r>
            <a:br/>
            <a:r>
              <a:t>• 人才梯队建设</a:t>
            </a:r>
            <a:br/>
            <a:r>
              <a:t>• 多元化资金来源</a:t>
            </a:r>
            <a:br/>
            <a:r>
              <a:t>• 国际合作网络</a:t>
            </a:r>
            <a:br/>
            <a:r>
              <a:t>• 产业界联合投入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572000"/>
            <a:ext cx="5029200" cy="2560320"/>
          </a:xfrm>
          <a:prstGeom prst="roundRect">
            <a:avLst/>
          </a:prstGeom>
          <a:solidFill>
            <a:srgbClr val="80808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4663440"/>
            <a:ext cx="484632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市场风险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20640"/>
            <a:ext cx="484632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技术路径变化、竞争加剧</a:t>
            </a:r>
            <a:br/>
            <a:r>
              <a:t>概率: 中等 | 影响: 中等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943600"/>
            <a:ext cx="4846320" cy="10972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应对措施:</a:t>
            </a:r>
            <a:br/>
            <a:r>
              <a:t>• 技术前瞻性研究</a:t>
            </a:r>
            <a:br/>
            <a:r>
              <a:t>• 灵活架构设计</a:t>
            </a:r>
            <a:br/>
            <a:r>
              <a:t>• 知识产权布局</a:t>
            </a:r>
            <a:br/>
            <a:r>
              <a:t>• 快速产业化能力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国际合作与交流网络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3200400" cy="640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ETH Zurich</a:t>
            </a:r>
            <a:br/>
            <a:r>
              <a:t>(瑞士)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重点领域: 神经形态计算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0896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联合博士培养</a:t>
            </a:r>
            <a:br/>
            <a:r>
              <a:t>• 学术交流访问</a:t>
            </a:r>
            <a:br/>
            <a:r>
              <a:t>• 共同申请项目</a:t>
            </a:r>
            <a:br/>
            <a:r>
              <a:t>• 技术转移合作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48640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长期合作（5年+）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1148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640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MIT CSAIL</a:t>
            </a:r>
            <a:br/>
            <a:r>
              <a:t>(美国)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65176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重点领域: AI芯片架构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10896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访问学者计划</a:t>
            </a:r>
            <a:br/>
            <a:r>
              <a:t>• 技术研讨会</a:t>
            </a:r>
            <a:br/>
            <a:r>
              <a:t>• 论文合作发表</a:t>
            </a:r>
            <a:br/>
            <a:r>
              <a:t>• 创新实验室共建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548640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中期合作（3年）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1148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1920240"/>
            <a:ext cx="3200400" cy="6400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IMEC</a:t>
            </a:r>
            <a:br/>
            <a:r>
              <a:t>(比利时)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重点领域: 先进工艺技术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10896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• 工艺技术授权</a:t>
            </a:r>
            <a:br/>
            <a:r>
              <a:t>• 联合研发项目</a:t>
            </a:r>
            <a:br/>
            <a:r>
              <a:t>• 人员培训交流</a:t>
            </a:r>
            <a:br/>
            <a:r>
              <a:t>• 设备共享使用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486400"/>
            <a:ext cx="3200400" cy="3657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000">
                <a:solidFill>
                  <a:srgbClr val="FFFFFF"/>
                </a:solidFill>
                <a:latin typeface="Microsoft YaHei"/>
              </a:defRPr>
            </a:pPr>
            <a:r>
              <a:t>项目合作（2年）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实施方案总览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启动阶段</a:t>
            </a:r>
            <a:br/>
            <a:r>
              <a:t>2026年1月-6月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主要目标:</a:t>
            </a:r>
            <a:br/>
            <a:r>
              <a:t>• 团队组建完成</a:t>
            </a:r>
            <a:br/>
            <a:r>
              <a:t>• 平台建设启动</a:t>
            </a:r>
            <a:br/>
            <a:r>
              <a:t>• 国际合作签约</a:t>
            </a:r>
            <a:br/>
            <a:r>
              <a:t>• 第一批项目立项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320040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交付成果:</a:t>
            </a:r>
            <a:br/>
            <a:r>
              <a:t>团队到位、设备采购、合作协议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发展阶段</a:t>
            </a:r>
            <a:br/>
            <a:r>
              <a:t>2026年7月-2028年12月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5603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主要目标:</a:t>
            </a:r>
            <a:br/>
            <a:r>
              <a:t>• 理论模型建立</a:t>
            </a:r>
            <a:br/>
            <a:r>
              <a:t>• 关键技术突破</a:t>
            </a:r>
            <a:br/>
            <a:r>
              <a:t>• 原型系统验证</a:t>
            </a:r>
            <a:br/>
            <a:r>
              <a:t>• 核心专利申请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5029200"/>
            <a:ext cx="320040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交付成果:</a:t>
            </a:r>
            <a:br/>
            <a:r>
              <a:t>10节点原型、核心论文、专利组合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60" y="1737360"/>
            <a:ext cx="3200400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成熟阶段</a:t>
            </a:r>
            <a:br/>
            <a:r>
              <a:t>2029年1月-2030年12月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5603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主要目标:</a:t>
            </a:r>
            <a:br/>
            <a:r>
              <a:t>• 系统集成优化</a:t>
            </a:r>
            <a:br/>
            <a:r>
              <a:t>• 1000节点实现</a:t>
            </a:r>
            <a:br/>
            <a:r>
              <a:t>• 产业化准备</a:t>
            </a:r>
            <a:br/>
            <a:r>
              <a:t>• 标准制定参与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5029200"/>
            <a:ext cx="3200400" cy="10058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100">
                <a:solidFill>
                  <a:srgbClr val="FFFFFF"/>
                </a:solidFill>
                <a:latin typeface="Microsoft YaHei"/>
              </a:defRPr>
            </a:pPr>
            <a:r>
              <a:t>交付成果:</a:t>
            </a:r>
            <a:br/>
            <a:r>
              <a:t>商业样机、技术标准、产业联盟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3600" b="1">
                <a:solidFill>
                  <a:srgbClr val="0066CC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2800">
                <a:solidFill>
                  <a:srgbClr val="0066CC"/>
                </a:solidFill>
                <a:latin typeface="Microsoft YaHei"/>
              </a:defRPr>
            </a:pPr>
            <a:r>
              <a:t>iNEST研究组核心贡献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3383280" cy="3200400"/>
          </a:xfrm>
          <a:prstGeom prst="roundRect">
            <a:avLst/>
          </a:prstGeom>
          <a:solidFill>
            <a:srgbClr val="4A9E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理论创新突破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建立物理涌现智能理论体系</a:t>
            </a:r>
            <a:br/>
            <a:r>
              <a:t>• 提出SDSoW/SDI新架构范式</a:t>
            </a:r>
            <a:br/>
            <a:r>
              <a:t>• 解决四个核心科学问题</a:t>
            </a:r>
            <a:br/>
            <a:r>
              <a:t>• 形成跨学科理论基础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286000"/>
            <a:ext cx="3383280" cy="3200400"/>
          </a:xfrm>
          <a:prstGeom prst="roundRect">
            <a:avLst/>
          </a:prstGeom>
          <a:solidFill>
            <a:srgbClr val="0066CC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37744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技术系统突破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30175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实现1000节点物理网络芯片</a:t>
            </a:r>
            <a:br/>
            <a:r>
              <a:t>• 突破晶圆级热管理技术</a:t>
            </a:r>
            <a:br/>
            <a:r>
              <a:t>• 发展无梯度物理学习算法</a:t>
            </a:r>
            <a:br/>
            <a:r>
              <a:t>• 建成完整工具链体系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286000"/>
            <a:ext cx="3383280" cy="3200400"/>
          </a:xfrm>
          <a:prstGeom prst="roundRect">
            <a:avLst/>
          </a:prstGeom>
          <a:solidFill>
            <a:srgbClr val="FF950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2377440"/>
            <a:ext cx="3200400" cy="54864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600">
                <a:solidFill>
                  <a:srgbClr val="FFFFFF"/>
                </a:solidFill>
                <a:latin typeface="Microsoft YaHei"/>
              </a:defRPr>
            </a:pPr>
            <a:r>
              <a:t>团队协同创新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3017520"/>
            <a:ext cx="3200400" cy="22860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lnSpc>
                <a:spcPct val="150000"/>
              </a:lnSpc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• 四位核心成员成功转型</a:t>
            </a:r>
            <a:br/>
            <a:r>
              <a:t>• 形成国际一流研究团队</a:t>
            </a:r>
            <a:br/>
            <a:r>
              <a:t>• 建立产学研协同机制</a:t>
            </a:r>
            <a:br/>
            <a:r>
              <a:t>• 培养新一代交叉人才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4360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000000"/>
                </a:solidFill>
                <a:latin typeface="Microsoft YaHei"/>
              </a:defRPr>
            </a:pPr>
            <a:r>
              <a:t>展望未来：引领物理智能时代，推动AI芯片范式革命，建设世界一流交叉学科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 sz="4800" b="1">
                <a:solidFill>
                  <a:srgbClr val="0066CC"/>
                </a:solidFill>
                <a:latin typeface="Microsoft YaHei"/>
              </a:defRPr>
            </a:pPr>
            <a:r>
              <a:t>谢谢聆听！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73152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2800">
                <a:solidFill>
                  <a:srgbClr val="0066CC"/>
                </a:solidFill>
                <a:latin typeface="Microsoft YaHei"/>
              </a:defRPr>
            </a:pPr>
            <a:r>
              <a:t>物理涌现智能与复杂网络学科方向规划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0152" cy="1371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ctr">
              <a:lnSpc>
                <a:spcPct val="150000"/>
              </a:lnSpc>
              <a:defRPr sz="1800">
                <a:solidFill>
                  <a:srgbClr val="808080"/>
                </a:solidFill>
                <a:latin typeface="Microsoft YaHei"/>
              </a:defRPr>
            </a:pPr>
            <a:r>
              <a:t>iNEST研究组</a:t>
            </a:r>
            <a:br/>
            <a:r>
              <a:t>复旦大学 • NDSC • 天津大学 联合</a:t>
            </a:r>
            <a:br/>
            <a:br/>
            <a:r>
              <a:t>联系方式：[邮箱地址]</a:t>
            </a:r>
            <a:br/>
            <a:r>
              <a:t>项目网站：[网站地址]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1817</Words>
  <Application>Microsoft Office PowerPoint</Application>
  <PresentationFormat>自定义</PresentationFormat>
  <Paragraphs>346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LEO</dc:creator>
  <cp:keywords/>
  <dc:description>generated using python-pptx</dc:description>
  <cp:lastModifiedBy>leo@csivo.com</cp:lastModifiedBy>
  <cp:revision>2</cp:revision>
  <dcterms:created xsi:type="dcterms:W3CDTF">2013-01-27T09:14:16Z</dcterms:created>
  <dcterms:modified xsi:type="dcterms:W3CDTF">2025-11-26T03:15:33Z</dcterms:modified>
  <cp:category/>
</cp:coreProperties>
</file>